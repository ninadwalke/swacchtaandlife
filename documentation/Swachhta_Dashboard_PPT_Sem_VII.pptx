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2" name="Shape 112"/>
          <p:cNvSpPr/>
          <p:nvPr>
            <p:ph type="sldImg"/>
          </p:nvPr>
        </p:nvSpPr>
        <p:spPr>
          <a:xfrm>
            <a:off x="1143000" y="685800"/>
            <a:ext cx="4572000" cy="3429000"/>
          </a:xfrm>
          <a:prstGeom prst="rect">
            <a:avLst/>
          </a:prstGeom>
        </p:spPr>
        <p:txBody>
          <a:bodyPr/>
          <a:lstStyle/>
          <a:p>
            <a:pPr/>
          </a:p>
        </p:txBody>
      </p:sp>
      <p:sp>
        <p:nvSpPr>
          <p:cNvPr id="113" name="Shape 11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431800" indent="-406400" algn="ctr">
              <a:spcBef>
                <a:spcPts val="600"/>
              </a:spcBef>
              <a:buClrTx/>
              <a:buSzTx/>
              <a:buFontTx/>
              <a:buNone/>
              <a:defRPr>
                <a:solidFill>
                  <a:srgbClr val="888888"/>
                </a:solidFill>
              </a:defRPr>
            </a:lvl1pPr>
            <a:lvl2pPr marL="431800" indent="76200" algn="ctr">
              <a:spcBef>
                <a:spcPts val="600"/>
              </a:spcBef>
              <a:buClrTx/>
              <a:buSzTx/>
              <a:buFontTx/>
              <a:buNone/>
              <a:defRPr>
                <a:solidFill>
                  <a:srgbClr val="888888"/>
                </a:solidFill>
              </a:defRPr>
            </a:lvl2pPr>
            <a:lvl3pPr marL="431800" indent="558800" algn="ctr">
              <a:spcBef>
                <a:spcPts val="600"/>
              </a:spcBef>
              <a:buClrTx/>
              <a:buSzTx/>
              <a:buFontTx/>
              <a:buNone/>
              <a:defRPr>
                <a:solidFill>
                  <a:srgbClr val="888888"/>
                </a:solidFill>
              </a:defRPr>
            </a:lvl3pPr>
            <a:lvl4pPr marL="431800" indent="1041400" algn="ctr">
              <a:spcBef>
                <a:spcPts val="600"/>
              </a:spcBef>
              <a:buClrTx/>
              <a:buSzTx/>
              <a:buFontTx/>
              <a:buNone/>
              <a:defRPr>
                <a:solidFill>
                  <a:srgbClr val="888888"/>
                </a:solidFill>
              </a:defRPr>
            </a:lvl4pPr>
            <a:lvl5pPr marL="431800" indent="1498600" algn="ctr">
              <a:spcBef>
                <a:spcPts val="600"/>
              </a:spcBef>
              <a:buClrTx/>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36" name="Title Text"/>
          <p:cNvSpPr txBox="1"/>
          <p:nvPr>
            <p:ph type="title"/>
          </p:nvPr>
        </p:nvSpPr>
        <p:spPr>
          <a:xfrm>
            <a:off x="722312" y="4406900"/>
            <a:ext cx="7772401" cy="1362075"/>
          </a:xfrm>
          <a:prstGeom prst="rect">
            <a:avLst/>
          </a:prstGeom>
        </p:spPr>
        <p:txBody>
          <a:bodyPr anchor="t"/>
          <a:lstStyle>
            <a:lvl1pPr algn="l">
              <a:defRPr b="1" sz="4000"/>
            </a:lvl1pPr>
          </a:lstStyle>
          <a:p>
            <a:pPr/>
            <a:r>
              <a:t>Title Text</a:t>
            </a:r>
          </a:p>
        </p:txBody>
      </p:sp>
      <p:sp>
        <p:nvSpPr>
          <p:cNvPr id="37" name="Body Level One…"/>
          <p:cNvSpPr txBox="1"/>
          <p:nvPr>
            <p:ph type="body" sz="quarter" idx="1"/>
          </p:nvPr>
        </p:nvSpPr>
        <p:spPr>
          <a:xfrm>
            <a:off x="722312" y="2906713"/>
            <a:ext cx="7772401" cy="1500188"/>
          </a:xfrm>
          <a:prstGeom prst="rect">
            <a:avLst/>
          </a:prstGeom>
        </p:spPr>
        <p:txBody>
          <a:bodyPr anchor="b"/>
          <a:lstStyle>
            <a:lvl1pPr marL="228600" indent="0">
              <a:spcBef>
                <a:spcPts val="400"/>
              </a:spcBef>
              <a:buClrTx/>
              <a:buSzTx/>
              <a:buFontTx/>
              <a:buNone/>
              <a:defRPr sz="2000">
                <a:solidFill>
                  <a:srgbClr val="888888"/>
                </a:solidFill>
              </a:defRPr>
            </a:lvl1pPr>
            <a:lvl2pPr marL="228600" indent="457200">
              <a:spcBef>
                <a:spcPts val="400"/>
              </a:spcBef>
              <a:buClrTx/>
              <a:buSzTx/>
              <a:buFontTx/>
              <a:buNone/>
              <a:defRPr sz="2000">
                <a:solidFill>
                  <a:srgbClr val="888888"/>
                </a:solidFill>
              </a:defRPr>
            </a:lvl2pPr>
            <a:lvl3pPr marL="228600" indent="914400">
              <a:spcBef>
                <a:spcPts val="400"/>
              </a:spcBef>
              <a:buClrTx/>
              <a:buSzTx/>
              <a:buFontTx/>
              <a:buNone/>
              <a:defRPr sz="2000">
                <a:solidFill>
                  <a:srgbClr val="888888"/>
                </a:solidFill>
              </a:defRPr>
            </a:lvl3pPr>
            <a:lvl4pPr marL="228600" indent="1371600">
              <a:spcBef>
                <a:spcPts val="400"/>
              </a:spcBef>
              <a:buClrTx/>
              <a:buSzTx/>
              <a:buFontTx/>
              <a:buNone/>
              <a:defRPr sz="2000">
                <a:solidFill>
                  <a:srgbClr val="888888"/>
                </a:solidFill>
              </a:defRPr>
            </a:lvl4pPr>
            <a:lvl5pPr marL="228600" indent="1828800">
              <a:spcBef>
                <a:spcPts val="400"/>
              </a:spcBef>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5" name="Title Text"/>
          <p:cNvSpPr txBox="1"/>
          <p:nvPr>
            <p:ph type="title"/>
          </p:nvPr>
        </p:nvSpPr>
        <p:spPr>
          <a:prstGeom prst="rect">
            <a:avLst/>
          </a:prstGeom>
        </p:spPr>
        <p:txBody>
          <a:bodyPr/>
          <a:lstStyle/>
          <a:p>
            <a:pPr/>
            <a:r>
              <a:t>Title Text</a:t>
            </a:r>
          </a:p>
        </p:txBody>
      </p:sp>
      <p:sp>
        <p:nvSpPr>
          <p:cNvPr id="46" name="Body Level One…"/>
          <p:cNvSpPr txBox="1"/>
          <p:nvPr>
            <p:ph type="body" sz="half" idx="1"/>
          </p:nvPr>
        </p:nvSpPr>
        <p:spPr>
          <a:xfrm>
            <a:off x="457200" y="1600200"/>
            <a:ext cx="4038600" cy="4525963"/>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7" name="Google Shape;40;p6"/>
          <p:cNvSpPr txBox="1"/>
          <p:nvPr>
            <p:ph type="body" sz="half" idx="21"/>
          </p:nvPr>
        </p:nvSpPr>
        <p:spPr>
          <a:xfrm>
            <a:off x="4648200" y="1600200"/>
            <a:ext cx="4038600" cy="4525963"/>
          </a:xfrm>
          <a:prstGeom prst="rect">
            <a:avLst/>
          </a:prstGeom>
        </p:spPr>
        <p:txBody>
          <a:bodyPr/>
          <a:lstStyle/>
          <a:p>
            <a:pPr indent="-406400">
              <a:spcBef>
                <a:spcPts val="500"/>
              </a:spcBef>
              <a:buSzPts val="2800"/>
              <a:defRPr sz="2800"/>
            </a:pP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5" name="Title Text"/>
          <p:cNvSpPr txBox="1"/>
          <p:nvPr>
            <p:ph type="title"/>
          </p:nvPr>
        </p:nvSpPr>
        <p:spPr>
          <a:prstGeom prst="rect">
            <a:avLst/>
          </a:prstGeom>
        </p:spPr>
        <p:txBody>
          <a:bodyPr/>
          <a:lstStyle/>
          <a:p>
            <a:pPr/>
            <a:r>
              <a:t>Title Text</a:t>
            </a:r>
          </a:p>
        </p:txBody>
      </p:sp>
      <p:sp>
        <p:nvSpPr>
          <p:cNvPr id="56" name="Body Level One…"/>
          <p:cNvSpPr txBox="1"/>
          <p:nvPr>
            <p:ph type="body" sz="quarter" idx="1"/>
          </p:nvPr>
        </p:nvSpPr>
        <p:spPr>
          <a:xfrm>
            <a:off x="457200" y="1535112"/>
            <a:ext cx="4040188" cy="639763"/>
          </a:xfrm>
          <a:prstGeom prst="rect">
            <a:avLst/>
          </a:prstGeom>
        </p:spPr>
        <p:txBody>
          <a:bodyPr anchor="b"/>
          <a:lstStyle>
            <a:lvl1pPr marL="228600" indent="0">
              <a:spcBef>
                <a:spcPts val="400"/>
              </a:spcBef>
              <a:buClrTx/>
              <a:buSzTx/>
              <a:buFontTx/>
              <a:buNone/>
              <a:defRPr b="1" sz="2400"/>
            </a:lvl1pPr>
            <a:lvl2pPr marL="228600" indent="457200">
              <a:spcBef>
                <a:spcPts val="400"/>
              </a:spcBef>
              <a:buClrTx/>
              <a:buSzTx/>
              <a:buFontTx/>
              <a:buNone/>
              <a:defRPr b="1" sz="2400"/>
            </a:lvl2pPr>
            <a:lvl3pPr marL="228600" indent="914400">
              <a:spcBef>
                <a:spcPts val="400"/>
              </a:spcBef>
              <a:buClrTx/>
              <a:buSzTx/>
              <a:buFontTx/>
              <a:buNone/>
              <a:defRPr b="1" sz="2400"/>
            </a:lvl3pPr>
            <a:lvl4pPr marL="228600" indent="1371600">
              <a:spcBef>
                <a:spcPts val="400"/>
              </a:spcBef>
              <a:buClrTx/>
              <a:buSzTx/>
              <a:buFontTx/>
              <a:buNone/>
              <a:defRPr b="1" sz="2400"/>
            </a:lvl4pPr>
            <a:lvl5pPr marL="228600" indent="1828800">
              <a:spcBef>
                <a:spcPts val="400"/>
              </a:spcBef>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7" name="Google Shape;47;p7"/>
          <p:cNvSpPr txBox="1"/>
          <p:nvPr>
            <p:ph type="body" sz="half" idx="21"/>
          </p:nvPr>
        </p:nvSpPr>
        <p:spPr>
          <a:xfrm>
            <a:off x="457200" y="2174875"/>
            <a:ext cx="4040188" cy="3951288"/>
          </a:xfrm>
          <a:prstGeom prst="rect">
            <a:avLst/>
          </a:prstGeom>
        </p:spPr>
        <p:txBody>
          <a:bodyPr/>
          <a:lstStyle/>
          <a:p>
            <a:pPr indent="-381000">
              <a:spcBef>
                <a:spcPts val="400"/>
              </a:spcBef>
              <a:buSzPts val="2400"/>
              <a:defRPr sz="2400"/>
            </a:pPr>
          </a:p>
        </p:txBody>
      </p:sp>
      <p:sp>
        <p:nvSpPr>
          <p:cNvPr id="58" name="Google Shape;48;p7"/>
          <p:cNvSpPr txBox="1"/>
          <p:nvPr>
            <p:ph type="body" sz="quarter" idx="22"/>
          </p:nvPr>
        </p:nvSpPr>
        <p:spPr>
          <a:xfrm>
            <a:off x="4645025" y="1535112"/>
            <a:ext cx="4041775" cy="639763"/>
          </a:xfrm>
          <a:prstGeom prst="rect">
            <a:avLst/>
          </a:prstGeom>
        </p:spPr>
        <p:txBody>
          <a:bodyPr anchor="b"/>
          <a:lstStyle/>
          <a:p>
            <a:pPr marL="228600" indent="0">
              <a:spcBef>
                <a:spcPts val="400"/>
              </a:spcBef>
              <a:buClrTx/>
              <a:buSzTx/>
              <a:buFontTx/>
              <a:buNone/>
              <a:defRPr b="1" sz="2400"/>
            </a:pPr>
          </a:p>
        </p:txBody>
      </p:sp>
      <p:sp>
        <p:nvSpPr>
          <p:cNvPr id="59" name="Google Shape;49;p7"/>
          <p:cNvSpPr txBox="1"/>
          <p:nvPr>
            <p:ph type="body" sz="half" idx="23"/>
          </p:nvPr>
        </p:nvSpPr>
        <p:spPr>
          <a:xfrm>
            <a:off x="4645025" y="2174875"/>
            <a:ext cx="4041775" cy="3951288"/>
          </a:xfrm>
          <a:prstGeom prst="rect">
            <a:avLst/>
          </a:prstGeom>
        </p:spPr>
        <p:txBody>
          <a:bodyPr/>
          <a:lstStyle/>
          <a:p>
            <a:pPr indent="-381000">
              <a:spcBef>
                <a:spcPts val="400"/>
              </a:spcBef>
              <a:buSzPts val="2400"/>
              <a:defRPr sz="2400"/>
            </a:pPr>
          </a:p>
        </p:txBody>
      </p:sp>
      <p:sp>
        <p:nvSpPr>
          <p:cNvPr id="6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7" name="Title Text"/>
          <p:cNvSpPr txBox="1"/>
          <p:nvPr>
            <p:ph type="title"/>
          </p:nvPr>
        </p:nvSpPr>
        <p:spPr>
          <a:prstGeom prst="rect">
            <a:avLst/>
          </a:prstGeom>
        </p:spPr>
        <p:txBody>
          <a:bodyPr/>
          <a:lstStyle/>
          <a:p>
            <a:pPr/>
            <a:r>
              <a:t>Title Text</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75"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6" name="Body Level One…"/>
          <p:cNvSpPr txBox="1"/>
          <p:nvPr>
            <p:ph type="body" idx="1"/>
          </p:nvPr>
        </p:nvSpPr>
        <p:spPr>
          <a:xfrm>
            <a:off x="3575050" y="273050"/>
            <a:ext cx="5111750" cy="5853113"/>
          </a:xfrm>
          <a:prstGeom prst="rect">
            <a:avLst/>
          </a:prstGeom>
        </p:spPr>
        <p:txBody>
          <a:bodyPr/>
          <a:lstStyle>
            <a:lvl1pPr indent="-431800">
              <a:spcBef>
                <a:spcPts val="600"/>
              </a:spcBef>
            </a:lvl1pPr>
            <a:lvl2pPr marL="972457" indent="-464457">
              <a:spcBef>
                <a:spcPts val="600"/>
              </a:spcBef>
            </a:lvl2pPr>
            <a:lvl3pPr marL="1498600" indent="-508000">
              <a:spcBef>
                <a:spcPts val="600"/>
              </a:spcBef>
            </a:lvl3pPr>
            <a:lvl4pPr marL="2042160" indent="-568960">
              <a:spcBef>
                <a:spcPts val="600"/>
              </a:spcBef>
            </a:lvl4pPr>
            <a:lvl5pPr marL="2499360" indent="-568960">
              <a:spcBef>
                <a:spcPts val="600"/>
              </a:spcBef>
            </a:lvl5pPr>
          </a:lstStyle>
          <a:p>
            <a:pPr/>
            <a:r>
              <a:t>Body Level One</a:t>
            </a:r>
          </a:p>
          <a:p>
            <a:pPr lvl="1"/>
            <a:r>
              <a:t>Body Level Two</a:t>
            </a:r>
          </a:p>
          <a:p>
            <a:pPr lvl="2"/>
            <a:r>
              <a:t>Body Level Three</a:t>
            </a:r>
          </a:p>
          <a:p>
            <a:pPr lvl="3"/>
            <a:r>
              <a:t>Body Level Four</a:t>
            </a:r>
          </a:p>
          <a:p>
            <a:pPr lvl="4"/>
            <a:r>
              <a:t>Body Level Five</a:t>
            </a:r>
          </a:p>
        </p:txBody>
      </p:sp>
      <p:sp>
        <p:nvSpPr>
          <p:cNvPr id="77" name="Google Shape;61;p9"/>
          <p:cNvSpPr txBox="1"/>
          <p:nvPr>
            <p:ph type="body" sz="half" idx="21"/>
          </p:nvPr>
        </p:nvSpPr>
        <p:spPr>
          <a:xfrm>
            <a:off x="457199" y="1435100"/>
            <a:ext cx="3008315" cy="4691063"/>
          </a:xfrm>
          <a:prstGeom prst="rect">
            <a:avLst/>
          </a:prstGeom>
        </p:spPr>
        <p:txBody>
          <a:bodyPr/>
          <a:lstStyle/>
          <a:p>
            <a:pPr marL="228600" indent="0">
              <a:spcBef>
                <a:spcPts val="200"/>
              </a:spcBef>
              <a:buClrTx/>
              <a:buSzTx/>
              <a:buFontTx/>
              <a:buNone/>
              <a:defRPr sz="1400"/>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85"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6" name="Google Shape;67;p10"/>
          <p:cNvSpPr/>
          <p:nvPr>
            <p:ph type="pic" sz="half" idx="21"/>
          </p:nvPr>
        </p:nvSpPr>
        <p:spPr>
          <a:xfrm>
            <a:off x="1792288" y="612775"/>
            <a:ext cx="5486401" cy="4114800"/>
          </a:xfrm>
          <a:prstGeom prst="rect">
            <a:avLst/>
          </a:prstGeom>
        </p:spPr>
        <p:txBody>
          <a:bodyPr lIns="91439" tIns="45719" rIns="91439" bIns="45719">
            <a:noAutofit/>
          </a:bodyPr>
          <a:lstStyle/>
          <a:p>
            <a:pPr/>
          </a:p>
        </p:txBody>
      </p:sp>
      <p:sp>
        <p:nvSpPr>
          <p:cNvPr id="87" name="Body Level One…"/>
          <p:cNvSpPr txBox="1"/>
          <p:nvPr>
            <p:ph type="body" sz="quarter" idx="1"/>
          </p:nvPr>
        </p:nvSpPr>
        <p:spPr>
          <a:xfrm>
            <a:off x="1792288" y="5367337"/>
            <a:ext cx="5486401" cy="804863"/>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95" name="Title Text"/>
          <p:cNvSpPr txBox="1"/>
          <p:nvPr>
            <p:ph type="title"/>
          </p:nvPr>
        </p:nvSpPr>
        <p:spPr>
          <a:prstGeom prst="rect">
            <a:avLst/>
          </a:prstGeom>
        </p:spPr>
        <p:txBody>
          <a:bodyPr/>
          <a:lstStyle/>
          <a:p>
            <a:pPr/>
            <a:r>
              <a:t>Title Text</a:t>
            </a:r>
          </a:p>
        </p:txBody>
      </p:sp>
      <p:sp>
        <p:nvSpPr>
          <p:cNvPr id="96" name="Body Level One…"/>
          <p:cNvSpPr txBox="1"/>
          <p:nvPr>
            <p:ph type="body" idx="1"/>
          </p:nvPr>
        </p:nvSpPr>
        <p:spPr>
          <a:xfrm rot="5400000">
            <a:off x="2309018" y="-251618"/>
            <a:ext cx="4525964" cy="82296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04" name="Title Text"/>
          <p:cNvSpPr txBox="1"/>
          <p:nvPr>
            <p:ph type="title"/>
          </p:nvPr>
        </p:nvSpPr>
        <p:spPr>
          <a:xfrm rot="5400000">
            <a:off x="4732337" y="2171700"/>
            <a:ext cx="5851526" cy="2057401"/>
          </a:xfrm>
          <a:prstGeom prst="rect">
            <a:avLst/>
          </a:prstGeom>
        </p:spPr>
        <p:txBody>
          <a:bodyPr/>
          <a:lstStyle/>
          <a:p>
            <a:pPr/>
            <a:r>
              <a:t>Title Text</a:t>
            </a:r>
          </a:p>
        </p:txBody>
      </p:sp>
      <p:sp>
        <p:nvSpPr>
          <p:cNvPr id="105" name="Body Level One…"/>
          <p:cNvSpPr txBox="1"/>
          <p:nvPr>
            <p:ph type="body" idx="1"/>
          </p:nvPr>
        </p:nvSpPr>
        <p:spPr>
          <a:xfrm rot="5400000">
            <a:off x="541337" y="190500"/>
            <a:ext cx="5851526" cy="60198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34290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1pPr>
      <a:lvl2pPr marL="963385" marR="0" indent="-391885"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2pPr>
      <a:lvl3pPr marL="1485900" marR="0" indent="-45720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3pPr>
      <a:lvl4pPr marL="20345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4pPr>
      <a:lvl5pPr marL="24917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5pPr>
      <a:lvl6pPr marL="2948939" marR="0" indent="-548639"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6pPr>
      <a:lvl7pPr marL="34061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7pPr>
      <a:lvl8pPr marL="38633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8pPr>
      <a:lvl9pPr marL="4320540" marR="0" indent="-548640" algn="l" defTabSz="914400" rtl="0" latinLnBrk="0">
        <a:lnSpc>
          <a:spcPct val="100000"/>
        </a:lnSpc>
        <a:spcBef>
          <a:spcPts val="300"/>
        </a:spcBef>
        <a:spcAft>
          <a:spcPts val="0"/>
        </a:spcAft>
        <a:buClr>
          <a:srgbClr val="000000"/>
        </a:buClr>
        <a:buSzPts val="32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4.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1.jpeg"/><Relationship Id="rId4" Type="http://schemas.openxmlformats.org/officeDocument/2006/relationships/image" Target="../media/image5.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1.jpeg"/><Relationship Id="rId4"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2.jpeg"/><Relationship Id="rId4" Type="http://schemas.openxmlformats.org/officeDocument/2006/relationships/image" Target="../media/image1.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jpeg"/><Relationship Id="rId4" Type="http://schemas.openxmlformats.org/officeDocument/2006/relationships/image" Target="../media/image1.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2.jpeg"/><Relationship Id="rId4" Type="http://schemas.openxmlformats.org/officeDocument/2006/relationships/image" Target="../media/image1.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jpeg"/><Relationship Id="rId4" Type="http://schemas.openxmlformats.org/officeDocument/2006/relationships/image" Target="../media/image1.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2.jpeg"/><Relationship Id="rId4" Type="http://schemas.openxmlformats.org/officeDocument/2006/relationships/image" Target="../media/image1.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image" Target="../media/image2.jpeg"/><Relationship Id="rId4" Type="http://schemas.openxmlformats.org/officeDocument/2006/relationships/image" Target="../media/image1.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1.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1.jpe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1.jpeg"/><Relationship Id="rId4" Type="http://schemas.openxmlformats.org/officeDocument/2006/relationships/image" Target="../media/image8.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9.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 Id="rId3" Type="http://schemas.openxmlformats.org/officeDocument/2006/relationships/image" Target="../media/image9.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Google Shape;92;p13"/>
          <p:cNvSpPr/>
          <p:nvPr/>
        </p:nvSpPr>
        <p:spPr>
          <a:xfrm>
            <a:off x="380999" y="5570975"/>
            <a:ext cx="8534401" cy="954069"/>
          </a:xfrm>
          <a:prstGeom prst="roundRect">
            <a:avLst>
              <a:gd name="adj" fmla="val 16667"/>
            </a:avLst>
          </a:prstGeom>
          <a:gradFill>
            <a:gsLst>
              <a:gs pos="0">
                <a:schemeClr val="accent4">
                  <a:hueOff val="-206663"/>
                  <a:satOff val="29896"/>
                  <a:lumOff val="29240"/>
                </a:schemeClr>
              </a:gs>
              <a:gs pos="35000">
                <a:srgbClr val="D6CAED"/>
              </a:gs>
              <a:gs pos="100000">
                <a:srgbClr val="EFE8FA"/>
              </a:gs>
            </a:gsLst>
            <a:lin ang="16200000"/>
          </a:gradFill>
          <a:ln>
            <a:solidFill>
              <a:srgbClr val="7C5F9F"/>
            </a:solidFill>
          </a:ln>
          <a:effectLst>
            <a:outerShdw sx="100000" sy="100000" kx="0" ky="0" algn="b" rotWithShape="0" blurRad="38100" dist="20000" dir="5400000">
              <a:srgbClr val="000000">
                <a:alpha val="36470"/>
              </a:srgbClr>
            </a:outerShdw>
          </a:effectLst>
        </p:spPr>
        <p:txBody>
          <a:bodyPr lIns="0" tIns="0" rIns="0" bIns="0" anchor="ctr"/>
          <a:lstStyle/>
          <a:p>
            <a:pPr algn="ctr">
              <a:defRPr sz="1800">
                <a:latin typeface="Calibri"/>
                <a:ea typeface="Calibri"/>
                <a:cs typeface="Calibri"/>
                <a:sym typeface="Calibri"/>
              </a:defRPr>
            </a:pPr>
          </a:p>
        </p:txBody>
      </p:sp>
      <p:sp>
        <p:nvSpPr>
          <p:cNvPr id="116" name="Google Shape;93;p13"/>
          <p:cNvSpPr txBox="1"/>
          <p:nvPr/>
        </p:nvSpPr>
        <p:spPr>
          <a:xfrm>
            <a:off x="810899" y="2352250"/>
            <a:ext cx="7930552" cy="66481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000">
                <a:latin typeface="Times New Roman"/>
                <a:ea typeface="Times New Roman"/>
                <a:cs typeface="Times New Roman"/>
                <a:sym typeface="Times New Roman"/>
              </a:defRPr>
            </a:lvl1pPr>
          </a:lstStyle>
          <a:p>
            <a:pPr/>
            <a:r>
              <a:t>Smart Waste Management System with Citizen Participation using Machine Learning for Sustainable Urban Cleanliness</a:t>
            </a:r>
          </a:p>
        </p:txBody>
      </p:sp>
      <p:sp>
        <p:nvSpPr>
          <p:cNvPr id="117" name="Google Shape;94;p13"/>
          <p:cNvSpPr txBox="1"/>
          <p:nvPr/>
        </p:nvSpPr>
        <p:spPr>
          <a:xfrm>
            <a:off x="810899" y="51305"/>
            <a:ext cx="7220577" cy="13030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800">
                <a:latin typeface="Times New Roman"/>
                <a:ea typeface="Times New Roman"/>
                <a:cs typeface="Times New Roman"/>
                <a:sym typeface="Times New Roman"/>
              </a:defRPr>
            </a:pPr>
            <a:r>
              <a:t>            </a:t>
            </a:r>
            <a:r>
              <a:rPr sz="1600">
                <a:solidFill>
                  <a:srgbClr val="1F3864"/>
                </a:solidFill>
              </a:rPr>
              <a:t>Excelssior Education Society’s </a:t>
            </a:r>
            <a:br>
              <a:rPr sz="1600">
                <a:solidFill>
                  <a:srgbClr val="1F3864"/>
                </a:solidFill>
              </a:rPr>
            </a:br>
            <a:r>
              <a:rPr sz="2400">
                <a:solidFill>
                  <a:srgbClr val="FF0000"/>
                </a:solidFill>
              </a:rPr>
              <a:t>         </a:t>
            </a:r>
            <a:r>
              <a:rPr>
                <a:solidFill>
                  <a:srgbClr val="1F3864"/>
                </a:solidFill>
              </a:rPr>
              <a:t>K. C. College of Engineering &amp; Management Studies &amp; Research  </a:t>
            </a:r>
            <a:br>
              <a:rPr>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sp>
        <p:nvSpPr>
          <p:cNvPr id="118" name="Google Shape;95;p13"/>
          <p:cNvSpPr txBox="1"/>
          <p:nvPr/>
        </p:nvSpPr>
        <p:spPr>
          <a:xfrm>
            <a:off x="502924" y="1359813"/>
            <a:ext cx="8290552" cy="99555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2100">
                <a:solidFill>
                  <a:srgbClr val="8E0000"/>
                </a:solidFill>
                <a:latin typeface="Bookman Old Style"/>
                <a:ea typeface="Bookman Old Style"/>
                <a:cs typeface="Bookman Old Style"/>
                <a:sym typeface="Bookman Old Style"/>
              </a:defRPr>
            </a:pPr>
            <a:r>
              <a:t>For Major Project of Final</a:t>
            </a:r>
          </a:p>
          <a:p>
            <a:pPr algn="ctr">
              <a:defRPr b="1" sz="2100">
                <a:solidFill>
                  <a:srgbClr val="8E0000"/>
                </a:solidFill>
                <a:latin typeface="Bookman Old Style"/>
                <a:ea typeface="Bookman Old Style"/>
                <a:cs typeface="Bookman Old Style"/>
                <a:sym typeface="Bookman Old Style"/>
              </a:defRPr>
            </a:pPr>
            <a:r>
              <a:t> Year Computer Engineering</a:t>
            </a:r>
            <a:endParaRPr sz="2000">
              <a:latin typeface="+mn-lt"/>
              <a:ea typeface="+mn-ea"/>
              <a:cs typeface="+mn-cs"/>
              <a:sym typeface="Arial"/>
            </a:endParaRPr>
          </a:p>
          <a:p>
            <a:pPr algn="ctr">
              <a:defRPr b="1" sz="1900">
                <a:latin typeface="Times New Roman"/>
                <a:ea typeface="Times New Roman"/>
                <a:cs typeface="Times New Roman"/>
                <a:sym typeface="Times New Roman"/>
              </a:defRPr>
            </a:pPr>
            <a:r>
              <a:t>Academic Year 2025-26</a:t>
            </a:r>
          </a:p>
        </p:txBody>
      </p:sp>
      <p:sp>
        <p:nvSpPr>
          <p:cNvPr id="119" name="Google Shape;96;p13"/>
          <p:cNvSpPr/>
          <p:nvPr/>
        </p:nvSpPr>
        <p:spPr>
          <a:xfrm>
            <a:off x="155574" y="1384271"/>
            <a:ext cx="8991602" cy="1501"/>
          </a:xfrm>
          <a:prstGeom prst="line">
            <a:avLst/>
          </a:prstGeom>
          <a:ln>
            <a:solidFill>
              <a:srgbClr val="4A7DBA"/>
            </a:solidFill>
          </a:ln>
        </p:spPr>
        <p:txBody>
          <a:bodyPr lIns="0" tIns="0" rIns="0" bIns="0"/>
          <a:lstStyle/>
          <a:p>
            <a:pPr/>
          </a:p>
        </p:txBody>
      </p:sp>
      <p:sp>
        <p:nvSpPr>
          <p:cNvPr id="120" name="Google Shape;97;p13"/>
          <p:cNvSpPr txBox="1"/>
          <p:nvPr/>
        </p:nvSpPr>
        <p:spPr>
          <a:xfrm>
            <a:off x="2407923" y="4765795"/>
            <a:ext cx="4674352" cy="9677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latin typeface="Bookman Old Style"/>
                <a:ea typeface="Bookman Old Style"/>
                <a:cs typeface="Bookman Old Style"/>
                <a:sym typeface="Bookman Old Style"/>
              </a:defRPr>
            </a:pPr>
            <a:r>
              <a:t>Guide :</a:t>
            </a:r>
          </a:p>
          <a:p>
            <a:pPr algn="ctr">
              <a:defRPr b="1" sz="2000">
                <a:latin typeface="Bookman Old Style"/>
                <a:ea typeface="Bookman Old Style"/>
                <a:cs typeface="Bookman Old Style"/>
                <a:sym typeface="Bookman Old Style"/>
              </a:defRPr>
            </a:pPr>
            <a:r>
              <a:t>Dr. Nita Patil</a:t>
            </a:r>
          </a:p>
        </p:txBody>
      </p:sp>
      <p:sp>
        <p:nvSpPr>
          <p:cNvPr id="121" name="Google Shape;98;p13"/>
          <p:cNvSpPr txBox="1"/>
          <p:nvPr/>
        </p:nvSpPr>
        <p:spPr>
          <a:xfrm>
            <a:off x="350524" y="5458223"/>
            <a:ext cx="8442952" cy="1209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lvl="4" algn="ctr">
              <a:defRPr sz="1800">
                <a:latin typeface="Overlock"/>
                <a:ea typeface="Overlock"/>
                <a:cs typeface="Overlock"/>
                <a:sym typeface="Overlock"/>
              </a:defRPr>
            </a:pPr>
          </a:p>
          <a:p>
            <a:pPr lvl="4" algn="ctr">
              <a:defRPr sz="1800">
                <a:latin typeface="Overlock"/>
                <a:ea typeface="Overlock"/>
                <a:cs typeface="Overlock"/>
                <a:sym typeface="Overlock"/>
              </a:defRPr>
            </a:pPr>
            <a:r>
              <a:t>Department of Computer Engineering</a:t>
            </a:r>
          </a:p>
          <a:p>
            <a:pPr algn="ctr">
              <a:defRPr sz="1800">
                <a:latin typeface="Overlock"/>
                <a:ea typeface="Overlock"/>
                <a:cs typeface="Overlock"/>
                <a:sym typeface="Overlock"/>
              </a:defRPr>
            </a:pPr>
            <a:r>
              <a:t>K. C. College of Engineering &amp; Management Studies &amp; Research, Thane (E)</a:t>
            </a:r>
          </a:p>
        </p:txBody>
      </p:sp>
      <p:pic>
        <p:nvPicPr>
          <p:cNvPr id="122" name="Google Shape;99;p13" descr="Google Shape;99;p13"/>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sp>
        <p:nvSpPr>
          <p:cNvPr id="123" name="Google Shape;104;p13"/>
          <p:cNvSpPr txBox="1"/>
          <p:nvPr/>
        </p:nvSpPr>
        <p:spPr>
          <a:xfrm>
            <a:off x="1798324" y="3060959"/>
            <a:ext cx="5928352" cy="15014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latin typeface="Calibri"/>
                <a:ea typeface="Calibri"/>
                <a:cs typeface="Calibri"/>
                <a:sym typeface="Calibri"/>
              </a:defRPr>
            </a:pPr>
            <a:r>
              <a:t>Student Name                   Roll No                          PRN</a:t>
            </a:r>
          </a:p>
          <a:p>
            <a:pPr>
              <a:defRPr sz="1800">
                <a:latin typeface="Calibri"/>
                <a:ea typeface="Calibri"/>
                <a:cs typeface="Calibri"/>
                <a:sym typeface="Calibri"/>
              </a:defRPr>
            </a:pPr>
            <a:r>
              <a:t>Shreya Patil                            11                    2022016402278515</a:t>
            </a:r>
          </a:p>
          <a:p>
            <a:pPr>
              <a:defRPr sz="1800">
                <a:latin typeface="Calibri"/>
                <a:ea typeface="Calibri"/>
                <a:cs typeface="Calibri"/>
                <a:sym typeface="Calibri"/>
              </a:defRPr>
            </a:pPr>
            <a:r>
              <a:t>Mandaar Pawar                    12                    2022016402279302</a:t>
            </a:r>
          </a:p>
          <a:p>
            <a:pPr>
              <a:defRPr sz="1800">
                <a:latin typeface="Calibri"/>
                <a:ea typeface="Calibri"/>
                <a:cs typeface="Calibri"/>
                <a:sym typeface="Calibri"/>
              </a:defRPr>
            </a:pPr>
            <a:r>
              <a:t>Shweta Shimpi                      24                    2022016402278264</a:t>
            </a:r>
          </a:p>
          <a:p>
            <a:pPr>
              <a:defRPr sz="1800">
                <a:latin typeface="Calibri"/>
                <a:ea typeface="Calibri"/>
                <a:cs typeface="Calibri"/>
                <a:sym typeface="Calibri"/>
              </a:defRPr>
            </a:pPr>
            <a:r>
              <a:t>Ninad Walke                          35                   2022016402278063</a:t>
            </a:r>
          </a:p>
        </p:txBody>
      </p:sp>
      <p:sp>
        <p:nvSpPr>
          <p:cNvPr id="124" name="Google Shape;105;p13"/>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5" name="Google Shape;106;p13" descr="Google Shape;106;p13"/>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126" name="Google Shape;107;p13" descr="Google Shape;107;p13"/>
          <p:cNvPicPr>
            <a:picLocks noChangeAspect="1"/>
          </p:cNvPicPr>
          <p:nvPr/>
        </p:nvPicPr>
        <p:blipFill>
          <a:blip r:embed="rId4">
            <a:extLst/>
          </a:blip>
          <a:stretch>
            <a:fillRect/>
          </a:stretch>
        </p:blipFill>
        <p:spPr>
          <a:xfrm>
            <a:off x="573085" y="4537195"/>
            <a:ext cx="1500199" cy="792046"/>
          </a:xfrm>
          <a:prstGeom prst="rect">
            <a:avLst/>
          </a:prstGeom>
          <a:ln w="12700">
            <a:miter lim="400000"/>
          </a:ln>
        </p:spPr>
      </p:pic>
      <p:pic>
        <p:nvPicPr>
          <p:cNvPr id="127" name="Google Shape;108;p13" descr="Google Shape;108;p13"/>
          <p:cNvPicPr>
            <a:picLocks noChangeAspect="1"/>
          </p:cNvPicPr>
          <p:nvPr/>
        </p:nvPicPr>
        <p:blipFill>
          <a:blip r:embed="rId5">
            <a:extLst/>
          </a:blip>
          <a:stretch>
            <a:fillRect/>
          </a:stretch>
        </p:blipFill>
        <p:spPr>
          <a:xfrm>
            <a:off x="7450136" y="4460995"/>
            <a:ext cx="1143008" cy="857257"/>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Google Shape;117;p14"/>
          <p:cNvSpPr/>
          <p:nvPr/>
        </p:nvSpPr>
        <p:spPr>
          <a:xfrm flipV="1">
            <a:off x="169250" y="1219994"/>
            <a:ext cx="8974751" cy="42481"/>
          </a:xfrm>
          <a:prstGeom prst="line">
            <a:avLst/>
          </a:prstGeom>
          <a:ln>
            <a:solidFill>
              <a:srgbClr val="4A7DBA"/>
            </a:solidFill>
          </a:ln>
        </p:spPr>
        <p:txBody>
          <a:bodyPr lIns="0" tIns="0" rIns="0" bIns="0"/>
          <a:lstStyle/>
          <a:p>
            <a:pPr/>
          </a:p>
        </p:txBody>
      </p:sp>
      <p:sp>
        <p:nvSpPr>
          <p:cNvPr id="130" name="Google Shape;118;p14"/>
          <p:cNvSpPr txBox="1"/>
          <p:nvPr/>
        </p:nvSpPr>
        <p:spPr>
          <a:xfrm>
            <a:off x="1925325" y="1408876"/>
            <a:ext cx="5649050" cy="4826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800">
                <a:solidFill>
                  <a:srgbClr val="1F497D"/>
                </a:solidFill>
                <a:latin typeface="Times New Roman"/>
                <a:ea typeface="Times New Roman"/>
                <a:cs typeface="Times New Roman"/>
                <a:sym typeface="Times New Roman"/>
              </a:defRPr>
            </a:lvl1pPr>
          </a:lstStyle>
          <a:p>
            <a:pPr/>
            <a:r>
              <a:t>OUTLINE OF PRESENTATION</a:t>
            </a:r>
          </a:p>
        </p:txBody>
      </p:sp>
      <p:sp>
        <p:nvSpPr>
          <p:cNvPr id="131" name="Google Shape;119;p14"/>
          <p:cNvSpPr txBox="1"/>
          <p:nvPr>
            <p:ph type="title"/>
          </p:nvPr>
        </p:nvSpPr>
        <p:spPr>
          <a:xfrm>
            <a:off x="390312" y="86393"/>
            <a:ext cx="8229601" cy="1143001"/>
          </a:xfrm>
          <a:prstGeom prst="rect">
            <a:avLst/>
          </a:prstGeom>
        </p:spPr>
        <p:txBody>
          <a:bodyPr/>
          <a:lstStyle/>
          <a:p>
            <a:pPr defTabSz="841247">
              <a:defRPr b="1" sz="1288">
                <a:latin typeface="Times New Roman"/>
                <a:ea typeface="Times New Roman"/>
                <a:cs typeface="Times New Roman"/>
                <a:sym typeface="Times New Roman"/>
              </a:defRPr>
            </a:pPr>
            <a:r>
              <a:t> </a:t>
            </a:r>
            <a:r>
              <a:rPr sz="1472">
                <a:solidFill>
                  <a:srgbClr val="1F3864"/>
                </a:solidFill>
              </a:rPr>
              <a:t>Excelssior Education Society’s </a:t>
            </a:r>
            <a:br>
              <a:rPr sz="1472">
                <a:solidFill>
                  <a:srgbClr val="1F3864"/>
                </a:solidFill>
              </a:rPr>
            </a:br>
            <a:r>
              <a:rPr>
                <a:solidFill>
                  <a:srgbClr val="FF0000"/>
                </a:solidFill>
              </a:rPr>
              <a:t>         </a:t>
            </a:r>
            <a:r>
              <a:rPr sz="1656">
                <a:solidFill>
                  <a:srgbClr val="1F3864"/>
                </a:solidFill>
              </a:rPr>
              <a:t>K. C. College of Engineering &amp; Management Studies &amp; Research  </a:t>
            </a:r>
            <a:br>
              <a:rPr sz="1656">
                <a:solidFill>
                  <a:srgbClr val="1F3864"/>
                </a:solidFill>
              </a:rPr>
            </a:br>
            <a:r>
              <a:rPr>
                <a:solidFill>
                  <a:srgbClr val="1F3864"/>
                </a:solidFill>
              </a:rPr>
              <a:t>(Affiliated to the University of Mumbai &amp; Approved by AICTE)</a:t>
            </a:r>
            <a:br>
              <a:rPr>
                <a:solidFill>
                  <a:srgbClr val="1F3864"/>
                </a:solidFill>
              </a:rPr>
            </a:br>
            <a:r>
              <a:rPr>
                <a:solidFill>
                  <a:srgbClr val="1F3864"/>
                </a:solidFill>
              </a:rPr>
              <a:t>Mith Bunder Road, Near Hume Pipe, Kopri, Thane (E) – 400603</a:t>
            </a:r>
            <a:br>
              <a:rPr>
                <a:solidFill>
                  <a:srgbClr val="1F3864"/>
                </a:solidFill>
              </a:rPr>
            </a:br>
            <a:r>
              <a:rPr>
                <a:solidFill>
                  <a:srgbClr val="1F3864"/>
                </a:solidFill>
              </a:rPr>
              <a:t>NAAC Accredited with A Grade (NBA Accredited)</a:t>
            </a:r>
          </a:p>
        </p:txBody>
      </p:sp>
      <p:sp>
        <p:nvSpPr>
          <p:cNvPr id="132" name="Google Shape;120;p14"/>
          <p:cNvSpPr txBox="1"/>
          <p:nvPr>
            <p:ph type="body" idx="1"/>
          </p:nvPr>
        </p:nvSpPr>
        <p:spPr>
          <a:xfrm>
            <a:off x="304800" y="2108413"/>
            <a:ext cx="8229600" cy="4677302"/>
          </a:xfrm>
          <a:prstGeom prst="rect">
            <a:avLst/>
          </a:prstGeom>
        </p:spPr>
        <p:txBody>
          <a:bodyPr/>
          <a:lstStyle/>
          <a:p>
            <a:pPr marL="342900" indent="-317500">
              <a:buSzPts val="2800"/>
              <a:buFont typeface="Times New Roman"/>
              <a:defRPr sz="2800">
                <a:latin typeface="Times New Roman"/>
                <a:ea typeface="Times New Roman"/>
                <a:cs typeface="Times New Roman"/>
                <a:sym typeface="Times New Roman"/>
              </a:defRPr>
            </a:pPr>
            <a:r>
              <a:t>Introduction</a:t>
            </a:r>
          </a:p>
          <a:p>
            <a:pPr marL="342900" indent="-317500">
              <a:buSzPts val="2800"/>
              <a:buFont typeface="Times New Roman"/>
              <a:defRPr sz="2800">
                <a:latin typeface="Times New Roman"/>
                <a:ea typeface="Times New Roman"/>
                <a:cs typeface="Times New Roman"/>
                <a:sym typeface="Times New Roman"/>
              </a:defRPr>
            </a:pPr>
            <a:r>
              <a:t>Problem Statement</a:t>
            </a:r>
          </a:p>
          <a:p>
            <a:pPr marL="342900" indent="-317500">
              <a:buSzPts val="2800"/>
              <a:buFont typeface="Times New Roman"/>
              <a:defRPr sz="2800">
                <a:latin typeface="Times New Roman"/>
                <a:ea typeface="Times New Roman"/>
                <a:cs typeface="Times New Roman"/>
                <a:sym typeface="Times New Roman"/>
              </a:defRPr>
            </a:pPr>
            <a:r>
              <a:t>Literature Survey</a:t>
            </a:r>
          </a:p>
          <a:p>
            <a:pPr marL="342900" indent="-317500">
              <a:buSzPts val="2800"/>
              <a:buFont typeface="Times New Roman"/>
              <a:defRPr sz="2800">
                <a:latin typeface="Times New Roman"/>
                <a:ea typeface="Times New Roman"/>
                <a:cs typeface="Times New Roman"/>
                <a:sym typeface="Times New Roman"/>
              </a:defRPr>
            </a:pPr>
            <a:r>
              <a:t>Aims &amp; Objective</a:t>
            </a:r>
          </a:p>
          <a:p>
            <a:pPr marL="342900" indent="-317500">
              <a:buSzPts val="2800"/>
              <a:buFont typeface="Times New Roman"/>
              <a:defRPr sz="2800">
                <a:latin typeface="Times New Roman"/>
                <a:ea typeface="Times New Roman"/>
                <a:cs typeface="Times New Roman"/>
                <a:sym typeface="Times New Roman"/>
              </a:defRPr>
            </a:pPr>
            <a:r>
              <a:t>System Analysis and Design</a:t>
            </a:r>
          </a:p>
          <a:p>
            <a:pPr marL="342900" indent="-317500">
              <a:buSzPts val="2800"/>
              <a:buFont typeface="Times New Roman"/>
              <a:defRPr sz="2800">
                <a:latin typeface="Times New Roman"/>
                <a:ea typeface="Times New Roman"/>
                <a:cs typeface="Times New Roman"/>
                <a:sym typeface="Times New Roman"/>
              </a:defRPr>
            </a:pPr>
            <a:r>
              <a:t>Methodology</a:t>
            </a:r>
          </a:p>
          <a:p>
            <a:pPr marL="342900" indent="-317500">
              <a:buSzPts val="2800"/>
              <a:buFont typeface="Times New Roman"/>
              <a:defRPr sz="2800">
                <a:latin typeface="Times New Roman"/>
                <a:ea typeface="Times New Roman"/>
                <a:cs typeface="Times New Roman"/>
                <a:sym typeface="Times New Roman"/>
              </a:defRPr>
            </a:pPr>
            <a:r>
              <a:t>Conclusion</a:t>
            </a:r>
          </a:p>
          <a:p>
            <a:pPr marL="342900" indent="-317500">
              <a:buSzPts val="2800"/>
              <a:buFont typeface="Times New Roman"/>
              <a:defRPr sz="2800">
                <a:latin typeface="Times New Roman"/>
                <a:ea typeface="Times New Roman"/>
                <a:cs typeface="Times New Roman"/>
                <a:sym typeface="Times New Roman"/>
              </a:defRPr>
            </a:pPr>
            <a:r>
              <a:t>References</a:t>
            </a:r>
          </a:p>
        </p:txBody>
      </p:sp>
      <p:sp>
        <p:nvSpPr>
          <p:cNvPr id="133" name="Google Shape;122;p14"/>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34" name="Google Shape;123;p14" descr="Google Shape;123;p14"/>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35" name="Google Shape;128;p14" descr="Google Shape;128;p14"/>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Google Shape;137;p15"/>
          <p:cNvSpPr/>
          <p:nvPr/>
        </p:nvSpPr>
        <p:spPr>
          <a:xfrm>
            <a:off x="106440" y="1288607"/>
            <a:ext cx="8991601" cy="1501"/>
          </a:xfrm>
          <a:prstGeom prst="line">
            <a:avLst/>
          </a:prstGeom>
          <a:ln>
            <a:solidFill>
              <a:srgbClr val="4A7DBA"/>
            </a:solidFill>
          </a:ln>
        </p:spPr>
        <p:txBody>
          <a:bodyPr lIns="0" tIns="0" rIns="0" bIns="0"/>
          <a:lstStyle/>
          <a:p>
            <a:pPr/>
          </a:p>
        </p:txBody>
      </p:sp>
      <p:sp>
        <p:nvSpPr>
          <p:cNvPr id="138" name="Google Shape;138;p15"/>
          <p:cNvSpPr txBox="1"/>
          <p:nvPr/>
        </p:nvSpPr>
        <p:spPr>
          <a:xfrm>
            <a:off x="1925325" y="1332676"/>
            <a:ext cx="5649050" cy="4826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800">
                <a:solidFill>
                  <a:srgbClr val="1F497D"/>
                </a:solidFill>
                <a:latin typeface="Times New Roman"/>
                <a:ea typeface="Times New Roman"/>
                <a:cs typeface="Times New Roman"/>
                <a:sym typeface="Times New Roman"/>
              </a:defRPr>
            </a:lvl1pPr>
          </a:lstStyle>
          <a:p>
            <a:pPr/>
            <a:r>
              <a:t>INTRODUCTION</a:t>
            </a:r>
          </a:p>
        </p:txBody>
      </p:sp>
      <p:sp>
        <p:nvSpPr>
          <p:cNvPr id="139" name="Google Shape;139;p15"/>
          <p:cNvSpPr txBox="1"/>
          <p:nvPr/>
        </p:nvSpPr>
        <p:spPr>
          <a:xfrm>
            <a:off x="372000" y="1928399"/>
            <a:ext cx="8372450" cy="443288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a:lnSpc>
                <a:spcPct val="115000"/>
              </a:lnSpc>
              <a:spcBef>
                <a:spcPts val="1200"/>
              </a:spcBef>
              <a:defRPr sz="1600">
                <a:latin typeface="Times New Roman"/>
                <a:ea typeface="Times New Roman"/>
                <a:cs typeface="Times New Roman"/>
                <a:sym typeface="Times New Roman"/>
              </a:defRPr>
            </a:pPr>
            <a:r>
              <a:t>Waste management in urban areas has become a critical challenge due to rapid urbanization, rising populations, and inefficient traditional systems. Overflowing bins, delayed collection, and lack of real-time monitoring often lead to unsanitary conditions and environmental hazards. Moreover, limited citizen involvement and the absence of predictive analytics further reduce the efficiency of waste handling.</a:t>
            </a:r>
          </a:p>
          <a:p>
            <a:pPr algn="just">
              <a:lnSpc>
                <a:spcPct val="115000"/>
              </a:lnSpc>
              <a:spcBef>
                <a:spcPts val="1200"/>
              </a:spcBef>
              <a:defRPr sz="1600">
                <a:latin typeface="Times New Roman"/>
                <a:ea typeface="Times New Roman"/>
                <a:cs typeface="Times New Roman"/>
                <a:sym typeface="Times New Roman"/>
              </a:defRPr>
            </a:pPr>
            <a:r>
              <a:t>Our project, </a:t>
            </a:r>
            <a:r>
              <a:rPr b="1"/>
              <a:t>"Smart Waste Management System with Citizen Participation using Machine Learning for Sustainable Urban Cleanliness"</a:t>
            </a:r>
            <a:r>
              <a:t>, aims to address these issues by combining technology with community engagement. Using machine learning, the system will predict waste generation patterns, optimize collection routes, and provide actionable insights through visual heatmaps.</a:t>
            </a:r>
          </a:p>
          <a:p>
            <a:pPr algn="just">
              <a:lnSpc>
                <a:spcPct val="115000"/>
              </a:lnSpc>
              <a:spcBef>
                <a:spcPts val="1200"/>
              </a:spcBef>
              <a:defRPr sz="1600">
                <a:latin typeface="Times New Roman"/>
                <a:ea typeface="Times New Roman"/>
                <a:cs typeface="Times New Roman"/>
                <a:sym typeface="Times New Roman"/>
              </a:defRPr>
            </a:pPr>
            <a:r>
              <a:t>An interactive citizen platform will enable real-time issue reporting, transparency in waste management operations, and increased public participation. By integrating data-driven decision-making with proactive civic involvement, this solution aspires to create cleaner, more efficient, and environmentally sustainable cities.</a:t>
            </a:r>
          </a:p>
        </p:txBody>
      </p:sp>
      <p:sp>
        <p:nvSpPr>
          <p:cNvPr id="140" name="Google Shape;140;p15"/>
          <p:cNvSpPr txBox="1"/>
          <p:nvPr>
            <p:ph type="title"/>
          </p:nvPr>
        </p:nvSpPr>
        <p:spPr>
          <a:xfrm>
            <a:off x="339512" y="124493"/>
            <a:ext cx="8229601" cy="1143001"/>
          </a:xfrm>
          <a:prstGeom prst="rect">
            <a:avLst/>
          </a:prstGeom>
        </p:spPr>
        <p:txBody>
          <a:bodyPr/>
          <a:lstStyle/>
          <a:p>
            <a:pPr lvl="3" defTabSz="841247">
              <a:defRPr b="1" sz="1288">
                <a:latin typeface="Times New Roman"/>
                <a:ea typeface="Times New Roman"/>
                <a:cs typeface="Times New Roman"/>
                <a:sym typeface="Times New Roman"/>
              </a:defRPr>
            </a:pPr>
            <a:r>
              <a:t> </a:t>
            </a:r>
            <a:r>
              <a:rPr sz="1472">
                <a:solidFill>
                  <a:srgbClr val="1F3864"/>
                </a:solidFill>
              </a:rPr>
              <a:t>Excelssior Education Society’s </a:t>
            </a:r>
            <a:br>
              <a:rPr sz="1472">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a:solidFill>
                  <a:srgbClr val="1F3864"/>
                </a:solidFill>
              </a:rPr>
              <a:t>(Affiliated to the University of Mumbai &amp; Approved by AICTE)</a:t>
            </a:r>
            <a:br>
              <a:rPr>
                <a:solidFill>
                  <a:srgbClr val="1F3864"/>
                </a:solidFill>
              </a:rPr>
            </a:br>
            <a:r>
              <a:rPr>
                <a:solidFill>
                  <a:srgbClr val="1F3864"/>
                </a:solidFill>
              </a:rPr>
              <a:t>Mith Bunder Road, Near Hume Pipe, Kopri, Thane (E) – 400603</a:t>
            </a:r>
            <a:br>
              <a:rPr>
                <a:solidFill>
                  <a:srgbClr val="1F3864"/>
                </a:solidFill>
              </a:rPr>
            </a:br>
            <a:r>
              <a:rPr>
                <a:solidFill>
                  <a:srgbClr val="1F3864"/>
                </a:solidFill>
              </a:rPr>
              <a:t>NAAC Accredited with A Grade (NBA Accredited)</a:t>
            </a:r>
          </a:p>
        </p:txBody>
      </p:sp>
      <p:sp>
        <p:nvSpPr>
          <p:cNvPr id="141" name="Google Shape;141;p15"/>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42" name="Google Shape;143;p15" descr="Google Shape;143;p15"/>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43" name="Google Shape;148;p15" descr="Google Shape;148;p15"/>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Google Shape;158;p16"/>
          <p:cNvSpPr/>
          <p:nvPr/>
        </p:nvSpPr>
        <p:spPr>
          <a:xfrm>
            <a:off x="182640" y="1212407"/>
            <a:ext cx="8991601" cy="1501"/>
          </a:xfrm>
          <a:prstGeom prst="line">
            <a:avLst/>
          </a:prstGeom>
          <a:ln>
            <a:solidFill>
              <a:srgbClr val="4A7DBA"/>
            </a:solidFill>
          </a:ln>
        </p:spPr>
        <p:txBody>
          <a:bodyPr lIns="0" tIns="0" rIns="0" bIns="0"/>
          <a:lstStyle/>
          <a:p>
            <a:pPr/>
          </a:p>
        </p:txBody>
      </p:sp>
      <p:sp>
        <p:nvSpPr>
          <p:cNvPr id="146" name="Google Shape;159;p16"/>
          <p:cNvSpPr txBox="1"/>
          <p:nvPr/>
        </p:nvSpPr>
        <p:spPr>
          <a:xfrm>
            <a:off x="1925325" y="1256476"/>
            <a:ext cx="5649050" cy="4826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800">
                <a:solidFill>
                  <a:srgbClr val="1F497D"/>
                </a:solidFill>
                <a:latin typeface="Times New Roman"/>
                <a:ea typeface="Times New Roman"/>
                <a:cs typeface="Times New Roman"/>
                <a:sym typeface="Times New Roman"/>
              </a:defRPr>
            </a:lvl1pPr>
          </a:lstStyle>
          <a:p>
            <a:pPr/>
            <a:r>
              <a:t>PROBLEM STATEMENT</a:t>
            </a:r>
          </a:p>
        </p:txBody>
      </p:sp>
      <p:sp>
        <p:nvSpPr>
          <p:cNvPr id="147" name="Google Shape;160;p16"/>
          <p:cNvSpPr txBox="1"/>
          <p:nvPr>
            <p:ph type="title"/>
          </p:nvPr>
        </p:nvSpPr>
        <p:spPr>
          <a:xfrm>
            <a:off x="390312" y="482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288">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148" name="Google Shape;161;p16"/>
          <p:cNvSpPr txBox="1"/>
          <p:nvPr>
            <p:ph type="body" idx="1"/>
          </p:nvPr>
        </p:nvSpPr>
        <p:spPr>
          <a:xfrm>
            <a:off x="307974" y="1899025"/>
            <a:ext cx="8378702" cy="4046100"/>
          </a:xfrm>
          <a:prstGeom prst="rect">
            <a:avLst/>
          </a:prstGeom>
        </p:spPr>
        <p:txBody>
          <a:bodyPr/>
          <a:lstStyle/>
          <a:p>
            <a:pPr marL="150394" indent="-150394" algn="just">
              <a:lnSpc>
                <a:spcPct val="103500"/>
              </a:lnSpc>
              <a:spcBef>
                <a:spcPts val="0"/>
              </a:spcBef>
              <a:buClrTx/>
              <a:buSzPct val="100000"/>
              <a:buFontTx/>
              <a:defRPr sz="1600">
                <a:latin typeface="Times New Roman"/>
                <a:ea typeface="Times New Roman"/>
                <a:cs typeface="Times New Roman"/>
                <a:sym typeface="Times New Roman"/>
              </a:defRPr>
            </a:pPr>
            <a:r>
              <a:t>Urban areas across the globe are facing a growing challenge in managing waste effectively due to rapid urbanization, population growth, and inefficient waste handling systems.Traditional waste management approaches often lack real-time monitoring, optimized collection routes, and active citizen engagement, resulting in overflowing bins, unsanitary conditions, and increased environmental pollution. Furthermore, the absence of predictive analytics leads to resource wastage and operational inefficiencies.</a:t>
            </a:r>
          </a:p>
          <a:p>
            <a:pPr marL="150394" indent="-150394" algn="just">
              <a:lnSpc>
                <a:spcPct val="103500"/>
              </a:lnSpc>
              <a:spcBef>
                <a:spcPts val="0"/>
              </a:spcBef>
              <a:buClrTx/>
              <a:buSzPct val="100000"/>
              <a:buFontTx/>
              <a:defRPr sz="1600">
                <a:latin typeface="Times New Roman"/>
                <a:ea typeface="Times New Roman"/>
                <a:cs typeface="Times New Roman"/>
                <a:sym typeface="Times New Roman"/>
              </a:defRPr>
            </a:pPr>
            <a:r>
              <a:t>In many cities, citizens are either unaware of their role in maintaining cleanliness or lack accessible platforms to report waste-related issues. This gap between civic authorities and public participation hinders the creation of a sustainable and clean urban environment.</a:t>
            </a:r>
          </a:p>
          <a:p>
            <a:pPr marL="150394" indent="-150394" algn="just">
              <a:lnSpc>
                <a:spcPct val="103500"/>
              </a:lnSpc>
              <a:spcBef>
                <a:spcPts val="0"/>
              </a:spcBef>
              <a:buClrTx/>
              <a:buSzPct val="100000"/>
              <a:buFontTx/>
              <a:defRPr sz="1600">
                <a:latin typeface="Times New Roman"/>
                <a:ea typeface="Times New Roman"/>
                <a:cs typeface="Times New Roman"/>
                <a:sym typeface="Times New Roman"/>
              </a:defRPr>
            </a:pPr>
            <a:r>
              <a:t>There is a pressing need for a smart waste management system that integrates machine learning for data-driven decision-making and citizen participation to ensure transparency, accountability, and proactive engagement. By leveraging technology and community involvement, cities can move towards a cleaner, more efficient, and environmentally sustainable waste management model.</a:t>
            </a:r>
          </a:p>
        </p:txBody>
      </p:sp>
      <p:sp>
        <p:nvSpPr>
          <p:cNvPr id="149" name="Google Shape;162;p16"/>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50" name="Google Shape;163;p16" descr="Google Shape;163;p16"/>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51" name="Google Shape;168;p16" descr="Google Shape;168;p16"/>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Google Shape;183;p17"/>
          <p:cNvSpPr txBox="1"/>
          <p:nvPr/>
        </p:nvSpPr>
        <p:spPr>
          <a:xfrm>
            <a:off x="3169924" y="6414780"/>
            <a:ext cx="2804152"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pPr/>
            <a:r>
              <a:t>project title</a:t>
            </a:r>
          </a:p>
        </p:txBody>
      </p:sp>
      <p:sp>
        <p:nvSpPr>
          <p:cNvPr id="154" name="Google Shape;177;p17"/>
          <p:cNvSpPr/>
          <p:nvPr/>
        </p:nvSpPr>
        <p:spPr>
          <a:xfrm>
            <a:off x="106440" y="1212407"/>
            <a:ext cx="8991601" cy="1501"/>
          </a:xfrm>
          <a:prstGeom prst="line">
            <a:avLst/>
          </a:prstGeom>
          <a:ln>
            <a:solidFill>
              <a:srgbClr val="4A7DBA"/>
            </a:solidFill>
          </a:ln>
        </p:spPr>
        <p:txBody>
          <a:bodyPr lIns="0" tIns="0" rIns="0" bIns="0"/>
          <a:lstStyle/>
          <a:p>
            <a:pPr/>
          </a:p>
        </p:txBody>
      </p:sp>
      <p:sp>
        <p:nvSpPr>
          <p:cNvPr id="155" name="Google Shape;178;p17"/>
          <p:cNvSpPr txBox="1"/>
          <p:nvPr/>
        </p:nvSpPr>
        <p:spPr>
          <a:xfrm>
            <a:off x="1925324" y="1180276"/>
            <a:ext cx="5648952" cy="4826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800">
                <a:solidFill>
                  <a:srgbClr val="1F497D"/>
                </a:solidFill>
                <a:latin typeface="Times New Roman"/>
                <a:ea typeface="Times New Roman"/>
                <a:cs typeface="Times New Roman"/>
                <a:sym typeface="Times New Roman"/>
              </a:defRPr>
            </a:lvl1pPr>
          </a:lstStyle>
          <a:p>
            <a:pPr/>
            <a:r>
              <a:t>LITERATURE SURVEY</a:t>
            </a:r>
          </a:p>
        </p:txBody>
      </p:sp>
      <p:sp>
        <p:nvSpPr>
          <p:cNvPr id="156" name="Google Shape;179;p17"/>
          <p:cNvSpPr txBox="1"/>
          <p:nvPr/>
        </p:nvSpPr>
        <p:spPr>
          <a:xfrm>
            <a:off x="502924" y="3115291"/>
            <a:ext cx="3489952" cy="34014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defRPr b="1" sz="2000">
                <a:latin typeface="Calibri"/>
                <a:ea typeface="Calibri"/>
                <a:cs typeface="Calibri"/>
                <a:sym typeface="Calibri"/>
              </a:defRPr>
            </a:lvl1pPr>
          </a:lstStyle>
          <a:p>
            <a:pPr/>
            <a:r>
              <a:t>Methodology</a:t>
            </a:r>
          </a:p>
        </p:txBody>
      </p:sp>
      <p:sp>
        <p:nvSpPr>
          <p:cNvPr id="157" name="Google Shape;180;p17"/>
          <p:cNvSpPr txBox="1"/>
          <p:nvPr>
            <p:ph type="title"/>
          </p:nvPr>
        </p:nvSpPr>
        <p:spPr>
          <a:xfrm>
            <a:off x="339512" y="482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158" name="Google Shape;181;p17"/>
          <p:cNvSpPr txBox="1"/>
          <p:nvPr>
            <p:ph type="body" idx="1"/>
          </p:nvPr>
        </p:nvSpPr>
        <p:spPr>
          <a:xfrm>
            <a:off x="390313" y="1792261"/>
            <a:ext cx="8470367" cy="4677310"/>
          </a:xfrm>
          <a:prstGeom prst="rect">
            <a:avLst/>
          </a:prstGeom>
        </p:spPr>
        <p:txBody>
          <a:bodyPr/>
          <a:lstStyle/>
          <a:p>
            <a:pPr marL="228600" indent="0">
              <a:buSzTx/>
              <a:buNone/>
            </a:pPr>
          </a:p>
        </p:txBody>
      </p:sp>
      <p:sp>
        <p:nvSpPr>
          <p:cNvPr id="159" name="Google Shape;182;p17"/>
          <p:cNvSpPr txBox="1"/>
          <p:nvPr/>
        </p:nvSpPr>
        <p:spPr>
          <a:xfrm>
            <a:off x="502924" y="6414780"/>
            <a:ext cx="2042152" cy="248265"/>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pPr/>
            <a:r>
              <a:t>10/14/2024</a:t>
            </a:r>
          </a:p>
        </p:txBody>
      </p:sp>
      <p:sp>
        <p:nvSpPr>
          <p:cNvPr id="160" name="Google Shape;184;p17"/>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61" name="Google Shape;185;p17"/>
          <p:cNvSpPr txBox="1"/>
          <p:nvPr/>
        </p:nvSpPr>
        <p:spPr>
          <a:xfrm>
            <a:off x="436038" y="5087206"/>
            <a:ext cx="2116206" cy="37271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nSpc>
                <a:spcPct val="90000"/>
              </a:lnSpc>
              <a:defRPr b="1" sz="2000">
                <a:latin typeface="Times New Roman"/>
                <a:ea typeface="Times New Roman"/>
                <a:cs typeface="Times New Roman"/>
                <a:sym typeface="Times New Roman"/>
              </a:defRPr>
            </a:lvl1pPr>
          </a:lstStyle>
          <a:p>
            <a:pPr/>
            <a:r>
              <a:t>Acknowledgement</a:t>
            </a:r>
          </a:p>
        </p:txBody>
      </p:sp>
      <p:pic>
        <p:nvPicPr>
          <p:cNvPr id="162" name="Google Shape;186;p17" descr="Google Shape;186;p17"/>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63" name="Google Shape;191;p17" descr="Google Shape;191;p17"/>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
        <p:nvSpPr>
          <p:cNvPr id="164" name="Google Shape;192;p17"/>
          <p:cNvSpPr txBox="1"/>
          <p:nvPr/>
        </p:nvSpPr>
        <p:spPr>
          <a:xfrm>
            <a:off x="6734983" y="6162367"/>
            <a:ext cx="2042151" cy="24826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1200">
                <a:solidFill>
                  <a:srgbClr val="888888"/>
                </a:solidFill>
                <a:latin typeface="Calibri"/>
                <a:ea typeface="Calibri"/>
                <a:cs typeface="Calibri"/>
                <a:sym typeface="Calibri"/>
              </a:defRPr>
            </a:lvl1pPr>
          </a:lstStyle>
          <a:p>
            <a:pPr/>
            <a:r>
              <a:t>5</a:t>
            </a:r>
          </a:p>
        </p:txBody>
      </p:sp>
      <p:graphicFrame>
        <p:nvGraphicFramePr>
          <p:cNvPr id="165" name="Google Shape;193;p17"/>
          <p:cNvGraphicFramePr/>
          <p:nvPr/>
        </p:nvGraphicFramePr>
        <p:xfrm>
          <a:off x="207545" y="1704171"/>
          <a:ext cx="8653125" cy="4794777"/>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152725"/>
                <a:gridCol w="2172825"/>
                <a:gridCol w="2156150"/>
                <a:gridCol w="2171425"/>
              </a:tblGrid>
              <a:tr h="708225">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Author(s)</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Title</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Method</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Outcome</a:t>
                      </a:r>
                    </a:p>
                  </a:txBody>
                  <a:tcPr marL="45725" marR="45725" marT="45725" marB="45725" anchor="ctr" anchorCtr="0" horzOverflow="overflow"/>
                </a:tc>
              </a:tr>
              <a:tr h="1161275">
                <a:tc>
                  <a:txBody>
                    <a:bodyPr/>
                    <a:lstStyle/>
                    <a:p>
                      <a:pPr algn="ctr">
                        <a:lnSpc>
                          <a:spcPct val="115000"/>
                        </a:lnSpc>
                        <a:defRPr b="1" sz="1400">
                          <a:latin typeface="Times New Roman"/>
                          <a:ea typeface="Times New Roman"/>
                          <a:cs typeface="Times New Roman"/>
                          <a:sym typeface="Times New Roman"/>
                        </a:defRPr>
                      </a:pPr>
                      <a:r>
                        <a:t>Raza et al., 2021</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Real-Time Trash Detection for Modern</a:t>
                      </a:r>
                    </a:p>
                    <a:p>
                      <a:pPr algn="ctr">
                        <a:lnSpc>
                          <a:spcPct val="115000"/>
                        </a:lnSpc>
                        <a:defRPr sz="1300">
                          <a:latin typeface="Times New Roman"/>
                          <a:ea typeface="Times New Roman"/>
                          <a:cs typeface="Times New Roman"/>
                          <a:sym typeface="Times New Roman"/>
                        </a:defRPr>
                      </a:pPr>
                      <a:r>
                        <a:t>Societies Using CCTV</a:t>
                      </a:r>
                    </a:p>
                  </a:txBody>
                  <a:tcPr marL="45725" marR="45725" marT="45725" marB="45725" anchor="ctr" anchorCtr="0" horzOverflow="overflow"/>
                </a:tc>
                <a:tc>
                  <a:txBody>
                    <a:bodyPr/>
                    <a:lstStyle/>
                    <a:p>
                      <a:pPr algn="ctr">
                        <a:lnSpc>
                          <a:spcPct val="115000"/>
                        </a:lnSpc>
                        <a:defRPr sz="1800"/>
                      </a:pPr>
                      <a:r>
                        <a:rPr sz="1300">
                          <a:latin typeface="Times New Roman"/>
                          <a:ea typeface="Times New Roman"/>
                          <a:cs typeface="Times New Roman"/>
                          <a:sym typeface="Times New Roman"/>
                        </a:rPr>
                        <a:t>CNN-based object  detection</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High accuracy for 8 trash categories;</a:t>
                      </a:r>
                    </a:p>
                    <a:p>
                      <a:pPr algn="ctr">
                        <a:lnSpc>
                          <a:spcPct val="115000"/>
                        </a:lnSpc>
                        <a:defRPr sz="1300">
                          <a:latin typeface="Times New Roman"/>
                          <a:ea typeface="Times New Roman"/>
                          <a:cs typeface="Times New Roman"/>
                          <a:sym typeface="Times New Roman"/>
                        </a:defRPr>
                      </a:pPr>
                      <a:r>
                        <a:t>effective real-timeCCTV detection </a:t>
                      </a:r>
                    </a:p>
                  </a:txBody>
                  <a:tcPr marL="45725" marR="45725" marT="45725" marB="45725" anchor="ctr" anchorCtr="0" horzOverflow="overflow"/>
                </a:tc>
              </a:tr>
              <a:tr h="848925">
                <a:tc>
                  <a:txBody>
                    <a:bodyPr/>
                    <a:lstStyle/>
                    <a:p>
                      <a:pPr algn="ctr">
                        <a:defRPr b="1" sz="1400">
                          <a:latin typeface="Times New Roman"/>
                          <a:ea typeface="Times New Roman"/>
                          <a:cs typeface="Times New Roman"/>
                          <a:sym typeface="Times New Roman"/>
                        </a:defRPr>
                      </a:pPr>
                      <a:r>
                        <a:t>Malik et al., 2023</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Machine Learning-Based Automatic Litter</a:t>
                      </a:r>
                    </a:p>
                    <a:p>
                      <a:pPr algn="ctr">
                        <a:lnSpc>
                          <a:spcPct val="115000"/>
                        </a:lnSpc>
                        <a:defRPr sz="1300">
                          <a:latin typeface="Times New Roman"/>
                          <a:ea typeface="Times New Roman"/>
                          <a:cs typeface="Times New Roman"/>
                          <a:sym typeface="Times New Roman"/>
                        </a:defRPr>
                      </a:pPr>
                      <a:r>
                        <a:t>Detection &amp; Classification in Smart Cities</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Transfer learning with CNN (VGG16,</a:t>
                      </a:r>
                    </a:p>
                    <a:p>
                      <a:pPr algn="ctr">
                        <a:lnSpc>
                          <a:spcPct val="115000"/>
                        </a:lnSpc>
                        <a:defRPr sz="1300">
                          <a:latin typeface="Times New Roman"/>
                          <a:ea typeface="Times New Roman"/>
                          <a:cs typeface="Times New Roman"/>
                          <a:sym typeface="Times New Roman"/>
                        </a:defRPr>
                      </a:pPr>
                      <a:r>
                        <a:t>ResNet)</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Effective multi- category classificati</a:t>
                      </a:r>
                    </a:p>
                    <a:p>
                      <a:pPr algn="ctr">
                        <a:lnSpc>
                          <a:spcPct val="115000"/>
                        </a:lnSpc>
                        <a:defRPr sz="1300">
                          <a:latin typeface="Times New Roman"/>
                          <a:ea typeface="Times New Roman"/>
                          <a:cs typeface="Times New Roman"/>
                          <a:sym typeface="Times New Roman"/>
                        </a:defRPr>
                      </a:pPr>
                      <a:r>
                        <a:t>on</a:t>
                      </a:r>
                    </a:p>
                  </a:txBody>
                  <a:tcPr marL="45725" marR="45725" marT="45725" marB="45725" anchor="ctr" anchorCtr="0" horzOverflow="overflow"/>
                </a:tc>
              </a:tr>
              <a:tr h="1038175">
                <a:tc>
                  <a:txBody>
                    <a:bodyPr/>
                    <a:lstStyle/>
                    <a:p>
                      <a:pPr algn="ctr">
                        <a:lnSpc>
                          <a:spcPct val="115000"/>
                        </a:lnSpc>
                        <a:defRPr b="1" sz="1400">
                          <a:latin typeface="Times New Roman"/>
                          <a:ea typeface="Times New Roman"/>
                          <a:cs typeface="Times New Roman"/>
                          <a:sym typeface="Times New Roman"/>
                        </a:defRPr>
                      </a:pPr>
                      <a:r>
                        <a:t>van Lieshout et al., 2023</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Advancing Deep Learning Detection of</a:t>
                      </a:r>
                    </a:p>
                    <a:p>
                      <a:pPr algn="ctr">
                        <a:lnSpc>
                          <a:spcPct val="115000"/>
                        </a:lnSpc>
                        <a:defRPr sz="1300">
                          <a:latin typeface="Times New Roman"/>
                          <a:ea typeface="Times New Roman"/>
                          <a:cs typeface="Times New Roman"/>
                          <a:sym typeface="Times New Roman"/>
                        </a:defRPr>
                      </a:pPr>
                      <a:r>
                        <a:t>Floating Litter</a:t>
                      </a:r>
                    </a:p>
                  </a:txBody>
                  <a:tcPr marL="45725" marR="45725" marT="45725" marB="45725" anchor="ctr" anchorCtr="0" horzOverflow="overflow"/>
                </a:tc>
                <a:tc>
                  <a:txBody>
                    <a:bodyPr/>
                    <a:lstStyle/>
                    <a:p>
                      <a:pPr algn="ctr">
                        <a:lnSpc>
                          <a:spcPct val="115000"/>
                        </a:lnSpc>
                        <a:defRPr sz="1800"/>
                      </a:pPr>
                      <a:r>
                        <a:rPr sz="1300">
                          <a:latin typeface="Times New Roman"/>
                          <a:ea typeface="Times New Roman"/>
                          <a:cs typeface="Times New Roman"/>
                          <a:sym typeface="Times New Roman"/>
                        </a:rPr>
                        <a:t>Fine-uned Squeeze Net,DenseNet</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Robust detection in aquatic</a:t>
                      </a:r>
                    </a:p>
                    <a:p>
                      <a:pPr algn="ctr">
                        <a:lnSpc>
                          <a:spcPct val="115000"/>
                        </a:lnSpc>
                        <a:defRPr sz="1300">
                          <a:latin typeface="Times New Roman"/>
                          <a:ea typeface="Times New Roman"/>
                          <a:cs typeface="Times New Roman"/>
                          <a:sym typeface="Times New Roman"/>
                        </a:defRPr>
                      </a:pPr>
                      <a:r>
                        <a:t>environments</a:t>
                      </a:r>
                    </a:p>
                  </a:txBody>
                  <a:tcPr marL="45725" marR="45725" marT="45725" marB="45725" anchor="ctr" anchorCtr="0" horzOverflow="overflow"/>
                </a:tc>
              </a:tr>
              <a:tr h="1038175">
                <a:tc>
                  <a:txBody>
                    <a:bodyPr/>
                    <a:lstStyle/>
                    <a:p>
                      <a:pPr algn="ctr">
                        <a:lnSpc>
                          <a:spcPct val="115000"/>
                        </a:lnSpc>
                        <a:defRPr b="1" sz="1400">
                          <a:latin typeface="Times New Roman"/>
                          <a:ea typeface="Times New Roman"/>
                          <a:cs typeface="Times New Roman"/>
                          <a:sym typeface="Times New Roman"/>
                        </a:defRPr>
                      </a:pPr>
                      <a:r>
                        <a:t>Pathak et al., 2024</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Smart City Community Watch –</a:t>
                      </a:r>
                    </a:p>
                    <a:p>
                      <a:pPr algn="ctr">
                        <a:lnSpc>
                          <a:spcPct val="115000"/>
                        </a:lnSpc>
                        <a:defRPr sz="1300">
                          <a:latin typeface="Times New Roman"/>
                          <a:ea typeface="Times New Roman"/>
                          <a:cs typeface="Times New Roman"/>
                          <a:sym typeface="Times New Roman"/>
                        </a:defRPr>
                      </a:pPr>
                      <a:r>
                        <a:t>Camera-Based Illegal Dumping Detection</a:t>
                      </a:r>
                    </a:p>
                  </a:txBody>
                  <a:tcPr marL="45725" marR="45725" marT="45725" marB="45725" anchor="ctr" anchorCtr="0" horzOverflow="overflow"/>
                </a:tc>
                <a:tc>
                  <a:txBody>
                    <a:bodyPr/>
                    <a:lstStyle/>
                    <a:p>
                      <a:pPr algn="ctr">
                        <a:lnSpc>
                          <a:spcPct val="115000"/>
                        </a:lnSpc>
                        <a:defRPr sz="1800"/>
                      </a:pPr>
                      <a:r>
                        <a:rPr sz="1300">
                          <a:latin typeface="Times New Roman"/>
                          <a:ea typeface="Times New Roman"/>
                          <a:cs typeface="Times New Roman"/>
                          <a:sym typeface="Times New Roman"/>
                        </a:rPr>
                        <a:t>DL-based object/eventdetection</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Detects illegal dumping in urban</a:t>
                      </a:r>
                    </a:p>
                    <a:p>
                      <a:pPr algn="ctr">
                        <a:lnSpc>
                          <a:spcPct val="115000"/>
                        </a:lnSpc>
                        <a:defRPr sz="1300">
                          <a:latin typeface="Times New Roman"/>
                          <a:ea typeface="Times New Roman"/>
                          <a:cs typeface="Times New Roman"/>
                          <a:sym typeface="Times New Roman"/>
                        </a:defRPr>
                      </a:pPr>
                      <a:r>
                        <a:t>zones</a:t>
                      </a:r>
                    </a:p>
                  </a:txBody>
                  <a:tcPr marL="45725" marR="45725" marT="45725" marB="45725" anchor="ctr" anchorCtr="0" horzOverflow="overflow"/>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Google Shape;202;p18"/>
          <p:cNvSpPr/>
          <p:nvPr/>
        </p:nvSpPr>
        <p:spPr>
          <a:xfrm>
            <a:off x="106440" y="1212407"/>
            <a:ext cx="8991601" cy="1501"/>
          </a:xfrm>
          <a:prstGeom prst="line">
            <a:avLst/>
          </a:prstGeom>
          <a:ln>
            <a:solidFill>
              <a:srgbClr val="4A7DBA"/>
            </a:solidFill>
          </a:ln>
        </p:spPr>
        <p:txBody>
          <a:bodyPr lIns="0" tIns="0" rIns="0" bIns="0"/>
          <a:lstStyle/>
          <a:p>
            <a:pPr/>
          </a:p>
        </p:txBody>
      </p:sp>
      <p:sp>
        <p:nvSpPr>
          <p:cNvPr id="168" name="Google Shape;204;p18"/>
          <p:cNvSpPr txBox="1"/>
          <p:nvPr/>
        </p:nvSpPr>
        <p:spPr>
          <a:xfrm>
            <a:off x="502924" y="3115291"/>
            <a:ext cx="3489952" cy="34014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defRPr b="1" sz="2000">
                <a:latin typeface="Calibri"/>
                <a:ea typeface="Calibri"/>
                <a:cs typeface="Calibri"/>
                <a:sym typeface="Calibri"/>
              </a:defRPr>
            </a:lvl1pPr>
          </a:lstStyle>
          <a:p>
            <a:pPr/>
            <a:r>
              <a:t>Methodology</a:t>
            </a:r>
          </a:p>
        </p:txBody>
      </p:sp>
      <p:sp>
        <p:nvSpPr>
          <p:cNvPr id="169" name="Google Shape;205;p18"/>
          <p:cNvSpPr txBox="1"/>
          <p:nvPr>
            <p:ph type="title"/>
          </p:nvPr>
        </p:nvSpPr>
        <p:spPr>
          <a:xfrm>
            <a:off x="390312" y="482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170" name="Google Shape;206;p18"/>
          <p:cNvSpPr txBox="1"/>
          <p:nvPr>
            <p:ph type="body" idx="1"/>
          </p:nvPr>
        </p:nvSpPr>
        <p:spPr>
          <a:xfrm>
            <a:off x="390312" y="1792260"/>
            <a:ext cx="8470502" cy="4677302"/>
          </a:xfrm>
          <a:prstGeom prst="rect">
            <a:avLst/>
          </a:prstGeom>
        </p:spPr>
        <p:txBody>
          <a:bodyPr/>
          <a:lstStyle/>
          <a:p>
            <a:pPr marL="228600" indent="0">
              <a:buSzTx/>
              <a:buNone/>
            </a:pPr>
          </a:p>
        </p:txBody>
      </p:sp>
      <p:sp>
        <p:nvSpPr>
          <p:cNvPr id="171" name="Google Shape;207;p18"/>
          <p:cNvSpPr txBox="1"/>
          <p:nvPr>
            <p:ph type="sldNum" sz="quarter" idx="2"/>
          </p:nvPr>
        </p:nvSpPr>
        <p:spPr>
          <a:xfrm>
            <a:off x="6858000" y="6567167"/>
            <a:ext cx="181342" cy="248266"/>
          </a:xfrm>
          <a:prstGeom prst="rect">
            <a:avLst/>
          </a:prstGeom>
          <a:extLst>
            <a:ext uri="{C572A759-6A51-4108-AA02-DFA0A04FC94B}">
              <ma14:wrappingTextBoxFlag xmlns:ma14="http://schemas.microsoft.com/office/mac/drawingml/2011/main" val="1"/>
            </a:ext>
          </a:extLst>
        </p:spPr>
        <p:txBody>
          <a:bodyPr/>
          <a:lstStyle>
            <a:lvl1pPr algn="l"/>
          </a:lstStyle>
          <a:p>
            <a:pPr/>
            <a:fld id="{86CB4B4D-7CA3-9044-876B-883B54F8677D}" type="slidenum"/>
          </a:p>
        </p:txBody>
      </p:sp>
      <p:sp>
        <p:nvSpPr>
          <p:cNvPr id="172" name="Google Shape;208;p18"/>
          <p:cNvSpPr txBox="1"/>
          <p:nvPr/>
        </p:nvSpPr>
        <p:spPr>
          <a:xfrm>
            <a:off x="436037" y="5087206"/>
            <a:ext cx="2116252" cy="37271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nSpc>
                <a:spcPct val="90000"/>
              </a:lnSpc>
              <a:defRPr b="1" sz="2000">
                <a:latin typeface="Times New Roman"/>
                <a:ea typeface="Times New Roman"/>
                <a:cs typeface="Times New Roman"/>
                <a:sym typeface="Times New Roman"/>
              </a:defRPr>
            </a:lvl1pPr>
          </a:lstStyle>
          <a:p>
            <a:pPr/>
            <a:r>
              <a:t>Acknowledgement</a:t>
            </a:r>
          </a:p>
        </p:txBody>
      </p:sp>
      <p:pic>
        <p:nvPicPr>
          <p:cNvPr id="173" name="Google Shape;209;p18" descr="Google Shape;209;p18"/>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74" name="Google Shape;214;p18" descr="Google Shape;214;p18"/>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
        <p:nvSpPr>
          <p:cNvPr id="175" name="Google Shape;215;p18"/>
          <p:cNvSpPr txBox="1"/>
          <p:nvPr/>
        </p:nvSpPr>
        <p:spPr>
          <a:xfrm>
            <a:off x="6734983" y="6162355"/>
            <a:ext cx="2042151" cy="24826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spAutoFit/>
          </a:bodyPr>
          <a:lstStyle>
            <a:lvl1pPr algn="r">
              <a:defRPr sz="1200">
                <a:solidFill>
                  <a:srgbClr val="888888"/>
                </a:solidFill>
                <a:latin typeface="Calibri"/>
                <a:ea typeface="Calibri"/>
                <a:cs typeface="Calibri"/>
                <a:sym typeface="Calibri"/>
              </a:defRPr>
            </a:lvl1pPr>
          </a:lstStyle>
          <a:p>
            <a:pPr/>
            <a:r>
              <a:t>6</a:t>
            </a:r>
          </a:p>
        </p:txBody>
      </p:sp>
      <p:graphicFrame>
        <p:nvGraphicFramePr>
          <p:cNvPr id="176" name="Google Shape;216;p18"/>
          <p:cNvGraphicFramePr/>
          <p:nvPr/>
        </p:nvGraphicFramePr>
        <p:xfrm>
          <a:off x="207545" y="1592821"/>
          <a:ext cx="8653125" cy="4927326"/>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849650"/>
                <a:gridCol w="2475900"/>
                <a:gridCol w="2156150"/>
                <a:gridCol w="2171425"/>
              </a:tblGrid>
              <a:tr h="699300">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Author(s)</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Title</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Method</a:t>
                      </a:r>
                    </a:p>
                  </a:txBody>
                  <a:tcPr marL="45725" marR="45725" marT="45725" marB="45725" anchor="ctr" anchorCtr="0" horzOverflow="overflow"/>
                </a:tc>
                <a:tc>
                  <a:txBody>
                    <a:bodyPr/>
                    <a:lstStyle/>
                    <a:p>
                      <a:pPr algn="ctr">
                        <a:defRPr b="0" sz="1800">
                          <a:solidFill>
                            <a:srgbClr val="000000"/>
                          </a:solidFill>
                        </a:defRPr>
                      </a:pPr>
                      <a:r>
                        <a:rPr b="1" sz="1500">
                          <a:solidFill>
                            <a:srgbClr val="FFFFFF"/>
                          </a:solidFill>
                          <a:latin typeface="Times New Roman"/>
                          <a:ea typeface="Times New Roman"/>
                          <a:cs typeface="Times New Roman"/>
                          <a:sym typeface="Times New Roman"/>
                        </a:rPr>
                        <a:t>Outcome</a:t>
                      </a:r>
                    </a:p>
                  </a:txBody>
                  <a:tcPr marL="45725" marR="45725" marT="45725" marB="45725" anchor="ctr" anchorCtr="0" horzOverflow="overflow"/>
                </a:tc>
              </a:tr>
              <a:tr h="1190025">
                <a:tc>
                  <a:txBody>
                    <a:bodyPr/>
                    <a:lstStyle/>
                    <a:p>
                      <a:pPr algn="ctr">
                        <a:lnSpc>
                          <a:spcPct val="115000"/>
                        </a:lnSpc>
                        <a:defRPr b="1" sz="1400">
                          <a:latin typeface="Times New Roman"/>
                          <a:ea typeface="Times New Roman"/>
                          <a:cs typeface="Times New Roman"/>
                          <a:sym typeface="Times New Roman"/>
                        </a:defRPr>
                      </a:pPr>
                      <a:r>
                        <a:t>Manivann an et al., 2024</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Garbage Monitoring &amp; Management</a:t>
                      </a:r>
                    </a:p>
                    <a:p>
                      <a:pPr algn="ctr">
                        <a:lnSpc>
                          <a:spcPct val="115000"/>
                        </a:lnSpc>
                        <a:defRPr sz="1300">
                          <a:latin typeface="Times New Roman"/>
                          <a:ea typeface="Times New Roman"/>
                          <a:cs typeface="Times New Roman"/>
                          <a:sym typeface="Times New Roman"/>
                        </a:defRPr>
                      </a:pPr>
                      <a:r>
                        <a:t>Using DL</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UAV imagery,clustering +</a:t>
                      </a:r>
                    </a:p>
                    <a:p>
                      <a:pPr algn="ctr">
                        <a:lnSpc>
                          <a:spcPct val="115000"/>
                        </a:lnSpc>
                        <a:defRPr sz="1300">
                          <a:latin typeface="Times New Roman"/>
                          <a:ea typeface="Times New Roman"/>
                          <a:cs typeface="Times New Roman"/>
                          <a:sym typeface="Times New Roman"/>
                        </a:defRPr>
                      </a:pPr>
                      <a:r>
                        <a:t>YOLOv4 detection</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Detection+ route optimization</a:t>
                      </a:r>
                    </a:p>
                  </a:txBody>
                  <a:tcPr marL="45725" marR="45725" marT="45725" marB="45725" anchor="ctr" anchorCtr="0" horzOverflow="overflow"/>
                </a:tc>
              </a:tr>
              <a:tr h="911350">
                <a:tc>
                  <a:txBody>
                    <a:bodyPr/>
                    <a:lstStyle/>
                    <a:p>
                      <a:pPr algn="ctr">
                        <a:lnSpc>
                          <a:spcPct val="115000"/>
                        </a:lnSpc>
                        <a:defRPr b="1" sz="1400">
                          <a:latin typeface="Times New Roman"/>
                          <a:ea typeface="Times New Roman"/>
                          <a:cs typeface="Times New Roman"/>
                          <a:sym typeface="Times New Roman"/>
                        </a:defRPr>
                      </a:pPr>
                      <a:r>
                        <a:t>Sun et al.,2023</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YOLOv5- OCDS: An Improved Garbage Detection Model</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YOLOv5 +ODConv + Soft-</a:t>
                      </a:r>
                    </a:p>
                    <a:p>
                      <a:pPr algn="ctr">
                        <a:lnSpc>
                          <a:spcPct val="115000"/>
                        </a:lnSpc>
                        <a:defRPr sz="1300">
                          <a:latin typeface="Times New Roman"/>
                          <a:ea typeface="Times New Roman"/>
                          <a:cs typeface="Times New Roman"/>
                          <a:sym typeface="Times New Roman"/>
                        </a:defRPr>
                      </a:pPr>
                      <a:r>
                        <a:t>NMS +C3DCN</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High real-time detection performance</a:t>
                      </a:r>
                    </a:p>
                  </a:txBody>
                  <a:tcPr marL="45725" marR="45725" marT="45725" marB="45725" anchor="ctr" anchorCtr="0" horzOverflow="overflow"/>
                </a:tc>
              </a:tr>
              <a:tr h="1101525">
                <a:tc>
                  <a:txBody>
                    <a:bodyPr/>
                    <a:lstStyle/>
                    <a:p>
                      <a:pPr algn="ctr">
                        <a:lnSpc>
                          <a:spcPct val="115000"/>
                        </a:lnSpc>
                        <a:defRPr b="1" sz="1400">
                          <a:latin typeface="Times New Roman"/>
                          <a:ea typeface="Times New Roman"/>
                          <a:cs typeface="Times New Roman"/>
                          <a:sym typeface="Times New Roman"/>
                        </a:defRPr>
                      </a:pPr>
                      <a:r>
                        <a:t>Gilani et al., 2023 </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Skip-YOLO in Multi-Scenes</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YOLOv4- tiny + Skip connections</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Robust in complex object</a:t>
                      </a:r>
                    </a:p>
                    <a:p>
                      <a:pPr algn="ctr">
                        <a:lnSpc>
                          <a:spcPct val="115000"/>
                        </a:lnSpc>
                        <a:defRPr sz="1300">
                          <a:latin typeface="Times New Roman"/>
                          <a:ea typeface="Times New Roman"/>
                          <a:cs typeface="Times New Roman"/>
                          <a:sym typeface="Times New Roman"/>
                        </a:defRPr>
                      </a:pPr>
                      <a:r>
                        <a:t>environments</a:t>
                      </a:r>
                    </a:p>
                  </a:txBody>
                  <a:tcPr marL="45725" marR="45725" marT="45725" marB="45725" anchor="ctr" anchorCtr="0" horzOverflow="overflow"/>
                </a:tc>
              </a:tr>
              <a:tr h="1025125">
                <a:tc>
                  <a:txBody>
                    <a:bodyPr/>
                    <a:lstStyle/>
                    <a:p>
                      <a:pPr algn="ctr">
                        <a:lnSpc>
                          <a:spcPct val="115000"/>
                        </a:lnSpc>
                        <a:defRPr b="1" sz="1400">
                          <a:latin typeface="Times New Roman"/>
                          <a:ea typeface="Times New Roman"/>
                          <a:cs typeface="Times New Roman"/>
                          <a:sym typeface="Times New Roman"/>
                        </a:defRPr>
                      </a:pPr>
                      <a:r>
                        <a:t>Cai et al., 2022</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YOLOG: Lightweight Network</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Dilated- Deformable CNN +</a:t>
                      </a:r>
                    </a:p>
                    <a:p>
                      <a:pPr algn="ctr">
                        <a:lnSpc>
                          <a:spcPct val="115000"/>
                        </a:lnSpc>
                        <a:defRPr sz="1300">
                          <a:latin typeface="Times New Roman"/>
                          <a:ea typeface="Times New Roman"/>
                          <a:cs typeface="Times New Roman"/>
                          <a:sym typeface="Times New Roman"/>
                        </a:defRPr>
                      </a:pPr>
                      <a:r>
                        <a:t>YOLOv4</a:t>
                      </a:r>
                    </a:p>
                  </a:txBody>
                  <a:tcPr marL="45725" marR="45725" marT="45725" marB="45725" anchor="ctr" anchorCtr="0" horzOverflow="overflow"/>
                </a:tc>
                <a:tc>
                  <a:txBody>
                    <a:bodyPr/>
                    <a:lstStyle/>
                    <a:p>
                      <a:pPr algn="ctr">
                        <a:lnSpc>
                          <a:spcPct val="115000"/>
                        </a:lnSpc>
                        <a:defRPr sz="1300">
                          <a:latin typeface="Times New Roman"/>
                          <a:ea typeface="Times New Roman"/>
                          <a:cs typeface="Times New Roman"/>
                          <a:sym typeface="Times New Roman"/>
                        </a:defRPr>
                      </a:pPr>
                      <a:r>
                        <a:t>Lightweight &amp; efficient</a:t>
                      </a:r>
                    </a:p>
                  </a:txBody>
                  <a:tcPr marL="45725" marR="45725" marT="45725" marB="45725" anchor="ctr" anchorCtr="0" horzOverflow="overflow"/>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Google Shape;225;p19"/>
          <p:cNvSpPr/>
          <p:nvPr/>
        </p:nvSpPr>
        <p:spPr>
          <a:xfrm>
            <a:off x="106440" y="1364807"/>
            <a:ext cx="8991601" cy="1501"/>
          </a:xfrm>
          <a:prstGeom prst="line">
            <a:avLst/>
          </a:prstGeom>
          <a:ln>
            <a:solidFill>
              <a:srgbClr val="4A7DBA"/>
            </a:solidFill>
          </a:ln>
        </p:spPr>
        <p:txBody>
          <a:bodyPr lIns="0" tIns="0" rIns="0" bIns="0"/>
          <a:lstStyle/>
          <a:p>
            <a:pPr/>
          </a:p>
        </p:txBody>
      </p:sp>
      <p:sp>
        <p:nvSpPr>
          <p:cNvPr id="179" name="Google Shape;226;p19"/>
          <p:cNvSpPr txBox="1"/>
          <p:nvPr/>
        </p:nvSpPr>
        <p:spPr>
          <a:xfrm>
            <a:off x="1925325" y="1485076"/>
            <a:ext cx="5649050" cy="4826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2800">
                <a:solidFill>
                  <a:srgbClr val="1F497D"/>
                </a:solidFill>
                <a:latin typeface="Times New Roman"/>
                <a:ea typeface="Times New Roman"/>
                <a:cs typeface="Times New Roman"/>
                <a:sym typeface="Times New Roman"/>
              </a:defRPr>
            </a:lvl1pPr>
          </a:lstStyle>
          <a:p>
            <a:pPr/>
            <a:r>
              <a:t>AIMS &amp; OBJECTIVES</a:t>
            </a:r>
          </a:p>
        </p:txBody>
      </p:sp>
      <p:sp>
        <p:nvSpPr>
          <p:cNvPr id="180" name="Google Shape;227;p19"/>
          <p:cNvSpPr txBox="1"/>
          <p:nvPr>
            <p:ph type="title"/>
          </p:nvPr>
        </p:nvSpPr>
        <p:spPr>
          <a:xfrm>
            <a:off x="390312" y="1625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181" name="Google Shape;228;p19"/>
          <p:cNvSpPr txBox="1"/>
          <p:nvPr>
            <p:ph type="body" idx="1"/>
          </p:nvPr>
        </p:nvSpPr>
        <p:spPr>
          <a:xfrm>
            <a:off x="366990" y="2081775"/>
            <a:ext cx="8470501" cy="4677301"/>
          </a:xfrm>
          <a:prstGeom prst="rect">
            <a:avLst/>
          </a:prstGeom>
        </p:spPr>
        <p:txBody>
          <a:bodyPr/>
          <a:lstStyle/>
          <a:p>
            <a:pPr marL="342900" indent="-228600" algn="just">
              <a:lnSpc>
                <a:spcPct val="80000"/>
              </a:lnSpc>
              <a:buSzTx/>
              <a:buNone/>
              <a:defRPr b="1" sz="1600">
                <a:latin typeface="Times New Roman"/>
                <a:ea typeface="Times New Roman"/>
                <a:cs typeface="Times New Roman"/>
                <a:sym typeface="Times New Roman"/>
              </a:defRPr>
            </a:pPr>
            <a:r>
              <a:t>Aim: </a:t>
            </a:r>
          </a:p>
          <a:p>
            <a:pPr marL="0" indent="0" algn="just">
              <a:lnSpc>
                <a:spcPct val="80000"/>
              </a:lnSpc>
              <a:buSzTx/>
              <a:buNone/>
              <a:defRPr sz="1600">
                <a:latin typeface="Times New Roman"/>
                <a:ea typeface="Times New Roman"/>
                <a:cs typeface="Times New Roman"/>
                <a:sym typeface="Times New Roman"/>
              </a:defRPr>
            </a:pPr>
            <a:r>
              <a:t> The aim of this project is to develop a Smart Waste Management System that leverages machine learning for efficient waste collection and prediction of waste generation patterns. It seeks to actively involve citizens in reporting and monitoring waste-related issues through an interactive platform. The ultimate goal is to promote sustainable urban cleanliness through data-driven decision-making and community participation.</a:t>
            </a:r>
          </a:p>
          <a:p>
            <a:pPr marL="0" indent="0" algn="just">
              <a:lnSpc>
                <a:spcPct val="80000"/>
              </a:lnSpc>
              <a:buSzTx/>
              <a:buNone/>
              <a:defRPr sz="1600">
                <a:latin typeface="Times New Roman"/>
                <a:ea typeface="Times New Roman"/>
                <a:cs typeface="Times New Roman"/>
                <a:sym typeface="Times New Roman"/>
              </a:defRPr>
            </a:pPr>
          </a:p>
          <a:p>
            <a:pPr marL="342900" indent="-228600" algn="just">
              <a:lnSpc>
                <a:spcPct val="80000"/>
              </a:lnSpc>
              <a:buSzTx/>
              <a:buNone/>
              <a:defRPr b="1" sz="1600">
                <a:latin typeface="Times New Roman"/>
                <a:ea typeface="Times New Roman"/>
                <a:cs typeface="Times New Roman"/>
                <a:sym typeface="Times New Roman"/>
              </a:defRPr>
            </a:pPr>
            <a:r>
              <a:t>Objectives:</a:t>
            </a:r>
          </a:p>
          <a:p>
            <a:pPr marL="0" indent="0" algn="just">
              <a:lnSpc>
                <a:spcPct val="92000"/>
              </a:lnSpc>
              <a:spcBef>
                <a:spcPts val="0"/>
              </a:spcBef>
              <a:buSzTx/>
              <a:buNone/>
              <a:defRPr sz="1600">
                <a:latin typeface="Times New Roman"/>
                <a:ea typeface="Times New Roman"/>
                <a:cs typeface="Times New Roman"/>
                <a:sym typeface="Times New Roman"/>
              </a:defRPr>
            </a:pPr>
            <a:r>
              <a:t>1. To</a:t>
            </a:r>
            <a:r>
              <a:rPr b="1"/>
              <a:t> </a:t>
            </a:r>
            <a:r>
              <a:t>implement machine learning algorithms for predicting waste accumulation patterns and optimizing waste collection schedules to reduce operational inefficiencies.</a:t>
            </a:r>
          </a:p>
          <a:p>
            <a:pPr marL="0" indent="0" algn="just">
              <a:lnSpc>
                <a:spcPct val="92000"/>
              </a:lnSpc>
              <a:spcBef>
                <a:spcPts val="0"/>
              </a:spcBef>
              <a:buSzTx/>
              <a:buNone/>
              <a:defRPr sz="1600">
                <a:latin typeface="Times New Roman"/>
                <a:ea typeface="Times New Roman"/>
                <a:cs typeface="Times New Roman"/>
                <a:sym typeface="Times New Roman"/>
              </a:defRPr>
            </a:pPr>
          </a:p>
          <a:p>
            <a:pPr marL="0" indent="0" algn="just">
              <a:lnSpc>
                <a:spcPct val="92000"/>
              </a:lnSpc>
              <a:spcBef>
                <a:spcPts val="0"/>
              </a:spcBef>
              <a:buSzTx/>
              <a:buNone/>
              <a:defRPr sz="1600">
                <a:latin typeface="Times New Roman"/>
                <a:ea typeface="Times New Roman"/>
                <a:cs typeface="Times New Roman"/>
                <a:sym typeface="Times New Roman"/>
              </a:defRPr>
            </a:pPr>
            <a:r>
              <a:t>2. To develop an interactive citizen platform that allows users to report waste-related issues and track resolution status, promoting transparency and engagement.</a:t>
            </a:r>
          </a:p>
          <a:p>
            <a:pPr marL="0" indent="0" algn="just">
              <a:lnSpc>
                <a:spcPct val="92000"/>
              </a:lnSpc>
              <a:spcBef>
                <a:spcPts val="0"/>
              </a:spcBef>
              <a:buSzTx/>
              <a:buNone/>
              <a:defRPr sz="1600">
                <a:latin typeface="Times New Roman"/>
                <a:ea typeface="Times New Roman"/>
                <a:cs typeface="Times New Roman"/>
                <a:sym typeface="Times New Roman"/>
              </a:defRPr>
            </a:pPr>
          </a:p>
          <a:p>
            <a:pPr marL="0" indent="0" algn="just">
              <a:lnSpc>
                <a:spcPct val="92000"/>
              </a:lnSpc>
              <a:spcBef>
                <a:spcPts val="0"/>
              </a:spcBef>
              <a:buSzTx/>
              <a:buNone/>
              <a:defRPr sz="1600">
                <a:latin typeface="Times New Roman"/>
                <a:ea typeface="Times New Roman"/>
                <a:cs typeface="Times New Roman"/>
                <a:sym typeface="Times New Roman"/>
              </a:defRPr>
            </a:pPr>
            <a:r>
              <a:t>3. To generate visual heatmaps using collected data to identify high waste-generation zones and support authorities in making targeted, area-specific interventions.</a:t>
            </a:r>
          </a:p>
          <a:p>
            <a:pPr marL="0" indent="0" algn="just">
              <a:lnSpc>
                <a:spcPct val="92000"/>
              </a:lnSpc>
              <a:spcBef>
                <a:spcPts val="0"/>
              </a:spcBef>
              <a:buSzTx/>
              <a:buNone/>
              <a:defRPr sz="1600">
                <a:latin typeface="Times New Roman"/>
                <a:ea typeface="Times New Roman"/>
                <a:cs typeface="Times New Roman"/>
                <a:sym typeface="Times New Roman"/>
              </a:defRPr>
            </a:pPr>
          </a:p>
          <a:p>
            <a:pPr marL="0" indent="0" algn="just">
              <a:lnSpc>
                <a:spcPct val="92000"/>
              </a:lnSpc>
              <a:spcBef>
                <a:spcPts val="0"/>
              </a:spcBef>
              <a:buSzTx/>
              <a:buNone/>
              <a:defRPr sz="1600">
                <a:latin typeface="Times New Roman"/>
                <a:ea typeface="Times New Roman"/>
                <a:cs typeface="Times New Roman"/>
                <a:sym typeface="Times New Roman"/>
              </a:defRPr>
            </a:pPr>
            <a:r>
              <a:t>4. To promote environmental awareness and participation by encouraging responsible waste disposal habits and feedback from the community through digital means.</a:t>
            </a:r>
          </a:p>
        </p:txBody>
      </p:sp>
      <p:sp>
        <p:nvSpPr>
          <p:cNvPr id="182" name="Google Shape;231;p19"/>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3" name="Google Shape;232;p19" descr="Google Shape;232;p19"/>
          <p:cNvPicPr>
            <a:picLocks noChangeAspect="1"/>
          </p:cNvPicPr>
          <p:nvPr/>
        </p:nvPicPr>
        <p:blipFill>
          <a:blip r:embed="rId2">
            <a:extLst/>
          </a:blip>
          <a:stretch>
            <a:fillRect/>
          </a:stretch>
        </p:blipFill>
        <p:spPr>
          <a:xfrm>
            <a:off x="7952013" y="236538"/>
            <a:ext cx="838201" cy="838201"/>
          </a:xfrm>
          <a:prstGeom prst="rect">
            <a:avLst/>
          </a:prstGeom>
          <a:ln w="12700">
            <a:miter lim="400000"/>
          </a:ln>
        </p:spPr>
      </p:pic>
      <p:pic>
        <p:nvPicPr>
          <p:cNvPr id="184"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6" name="Slide Number"/>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87" name="Excelssior Education Society’s           K. C. College of Engineering &amp; Management Studies &amp; Research   (Affiliated to the University of Mumbai &amp; Approved by AICTE) Mith Bunder Road, Near Hume Pipe, Kopri, Thane (E) – 400603 NAAC Accredited with A Grade "/>
          <p:cNvSpPr txBox="1"/>
          <p:nvPr>
            <p:ph type="title" idx="4294967295"/>
          </p:nvPr>
        </p:nvSpPr>
        <p:spPr>
          <a:xfrm>
            <a:off x="390312" y="1244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pic>
        <p:nvPicPr>
          <p:cNvPr id="188" name="Google Shape;237;p19" descr="Google Shape;237;p19"/>
          <p:cNvPicPr>
            <a:picLocks noChangeAspect="1"/>
          </p:cNvPicPr>
          <p:nvPr/>
        </p:nvPicPr>
        <p:blipFill>
          <a:blip r:embed="rId2">
            <a:extLst/>
          </a:blip>
          <a:stretch>
            <a:fillRect/>
          </a:stretch>
        </p:blipFill>
        <p:spPr>
          <a:xfrm>
            <a:off x="304800" y="203571"/>
            <a:ext cx="1192647" cy="843373"/>
          </a:xfrm>
          <a:prstGeom prst="rect">
            <a:avLst/>
          </a:prstGeom>
          <a:ln w="12700">
            <a:miter lim="400000"/>
          </a:ln>
        </p:spPr>
      </p:pic>
      <p:pic>
        <p:nvPicPr>
          <p:cNvPr id="189" name="Google Shape;232;p19" descr="Google Shape;232;p19"/>
          <p:cNvPicPr>
            <a:picLocks noChangeAspect="1"/>
          </p:cNvPicPr>
          <p:nvPr/>
        </p:nvPicPr>
        <p:blipFill>
          <a:blip r:embed="rId3">
            <a:extLst/>
          </a:blip>
          <a:stretch>
            <a:fillRect/>
          </a:stretch>
        </p:blipFill>
        <p:spPr>
          <a:xfrm>
            <a:off x="7952013" y="236538"/>
            <a:ext cx="838201" cy="838201"/>
          </a:xfrm>
          <a:prstGeom prst="rect">
            <a:avLst/>
          </a:prstGeom>
          <a:ln w="12700">
            <a:miter lim="400000"/>
          </a:ln>
        </p:spPr>
      </p:pic>
      <p:sp>
        <p:nvSpPr>
          <p:cNvPr id="190" name="Google Shape;225;p19"/>
          <p:cNvSpPr/>
          <p:nvPr/>
        </p:nvSpPr>
        <p:spPr>
          <a:xfrm>
            <a:off x="106440" y="1364808"/>
            <a:ext cx="8991600" cy="1500"/>
          </a:xfrm>
          <a:prstGeom prst="line">
            <a:avLst/>
          </a:prstGeom>
          <a:ln>
            <a:solidFill>
              <a:srgbClr val="4A7DBA"/>
            </a:solidFill>
          </a:ln>
        </p:spPr>
        <p:txBody>
          <a:bodyPr lIns="0" tIns="0" rIns="0" bIns="0"/>
          <a:lstStyle/>
          <a:p>
            <a:pPr/>
          </a:p>
        </p:txBody>
      </p:sp>
      <p:sp>
        <p:nvSpPr>
          <p:cNvPr id="191" name="SYSTEM ANALYSIS AND DESIGN"/>
          <p:cNvSpPr txBox="1"/>
          <p:nvPr/>
        </p:nvSpPr>
        <p:spPr>
          <a:xfrm>
            <a:off x="1756732" y="1441490"/>
            <a:ext cx="5691015" cy="3912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spcBef>
                <a:spcPts val="300"/>
              </a:spcBef>
              <a:defRPr b="1" sz="2800">
                <a:solidFill>
                  <a:srgbClr val="2E4F80"/>
                </a:solidFill>
                <a:latin typeface="Times New Roman"/>
                <a:ea typeface="Times New Roman"/>
                <a:cs typeface="Times New Roman"/>
                <a:sym typeface="Times New Roman"/>
              </a:defRPr>
            </a:lvl1pPr>
          </a:lstStyle>
          <a:p>
            <a:pPr/>
            <a:r>
              <a:t>SYSTEM ANALYSIS AND DESIGN </a:t>
            </a:r>
          </a:p>
        </p:txBody>
      </p:sp>
      <p:pic>
        <p:nvPicPr>
          <p:cNvPr id="192" name="unknown.jpg" descr="unknown.jpg"/>
          <p:cNvPicPr>
            <a:picLocks noChangeAspect="1"/>
          </p:cNvPicPr>
          <p:nvPr/>
        </p:nvPicPr>
        <p:blipFill>
          <a:blip r:embed="rId4">
            <a:extLst/>
          </a:blip>
          <a:stretch>
            <a:fillRect/>
          </a:stretch>
        </p:blipFill>
        <p:spPr>
          <a:xfrm>
            <a:off x="1726526" y="1903205"/>
            <a:ext cx="5557174" cy="4544875"/>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lide Number"/>
          <p:cNvSpPr txBox="1"/>
          <p:nvPr>
            <p:ph type="sldNum" sz="quarter" idx="2"/>
          </p:nvPr>
        </p:nvSpPr>
        <p:spPr>
          <a:xfrm>
            <a:off x="8505458" y="6414780"/>
            <a:ext cx="181343"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95" name="Excelssior Education Society’s           K. C. College of Engineering &amp; Management Studies &amp; Research   (Affiliated to the University of Mumbai &amp; Approved by AICTE) Mith Bunder Road, Near Hume Pipe, Kopri, Thane (E) – 400603 NAAC Accredited with A Grade "/>
          <p:cNvSpPr txBox="1"/>
          <p:nvPr>
            <p:ph type="title" idx="4294967295"/>
          </p:nvPr>
        </p:nvSpPr>
        <p:spPr>
          <a:xfrm>
            <a:off x="390312" y="124493"/>
            <a:ext cx="8229601" cy="1143001"/>
          </a:xfrm>
          <a:prstGeom prst="rect">
            <a:avLst/>
          </a:prstGeom>
        </p:spPr>
        <p:txBody>
          <a:bodyPr/>
          <a:lstStyle/>
          <a:p>
            <a:pP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pic>
        <p:nvPicPr>
          <p:cNvPr id="196" name="Google Shape;237;p19" descr="Google Shape;237;p19"/>
          <p:cNvPicPr>
            <a:picLocks noChangeAspect="1"/>
          </p:cNvPicPr>
          <p:nvPr/>
        </p:nvPicPr>
        <p:blipFill>
          <a:blip r:embed="rId2">
            <a:extLst/>
          </a:blip>
          <a:stretch>
            <a:fillRect/>
          </a:stretch>
        </p:blipFill>
        <p:spPr>
          <a:xfrm>
            <a:off x="304800" y="203571"/>
            <a:ext cx="1192647" cy="843373"/>
          </a:xfrm>
          <a:prstGeom prst="rect">
            <a:avLst/>
          </a:prstGeom>
          <a:ln w="12700">
            <a:miter lim="400000"/>
          </a:ln>
        </p:spPr>
      </p:pic>
      <p:pic>
        <p:nvPicPr>
          <p:cNvPr id="197" name="Google Shape;232;p19" descr="Google Shape;232;p19"/>
          <p:cNvPicPr>
            <a:picLocks noChangeAspect="1"/>
          </p:cNvPicPr>
          <p:nvPr/>
        </p:nvPicPr>
        <p:blipFill>
          <a:blip r:embed="rId3">
            <a:extLst/>
          </a:blip>
          <a:stretch>
            <a:fillRect/>
          </a:stretch>
        </p:blipFill>
        <p:spPr>
          <a:xfrm>
            <a:off x="7952013" y="236538"/>
            <a:ext cx="838201" cy="838201"/>
          </a:xfrm>
          <a:prstGeom prst="rect">
            <a:avLst/>
          </a:prstGeom>
          <a:ln w="12700">
            <a:miter lim="400000"/>
          </a:ln>
        </p:spPr>
      </p:pic>
      <p:sp>
        <p:nvSpPr>
          <p:cNvPr id="198"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199" name="Google Shape;225;p19"/>
          <p:cNvSpPr/>
          <p:nvPr/>
        </p:nvSpPr>
        <p:spPr>
          <a:xfrm>
            <a:off x="106440" y="1364808"/>
            <a:ext cx="8991600" cy="1500"/>
          </a:xfrm>
          <a:prstGeom prst="line">
            <a:avLst/>
          </a:prstGeom>
          <a:ln>
            <a:solidFill>
              <a:srgbClr val="4A7DBA"/>
            </a:solidFill>
          </a:ln>
        </p:spPr>
        <p:txBody>
          <a:bodyPr lIns="0" tIns="0" rIns="0" bIns="0"/>
          <a:lstStyle/>
          <a:p>
            <a:pPr/>
          </a:p>
        </p:txBody>
      </p:sp>
      <p:pic>
        <p:nvPicPr>
          <p:cNvPr id="200" name="Picture 8" descr="Picture 8"/>
          <p:cNvPicPr>
            <a:picLocks noChangeAspect="1"/>
          </p:cNvPicPr>
          <p:nvPr/>
        </p:nvPicPr>
        <p:blipFill>
          <a:blip r:embed="rId4">
            <a:extLst/>
          </a:blip>
          <a:stretch>
            <a:fillRect/>
          </a:stretch>
        </p:blipFill>
        <p:spPr>
          <a:xfrm>
            <a:off x="980737" y="1684171"/>
            <a:ext cx="7048752" cy="3677884"/>
          </a:xfrm>
          <a:prstGeom prst="rect">
            <a:avLst/>
          </a:prstGeom>
          <a:ln w="12700">
            <a:miter lim="400000"/>
          </a:ln>
        </p:spPr>
      </p:pic>
      <p:sp>
        <p:nvSpPr>
          <p:cNvPr id="201" name="Home Page (After authentication)"/>
          <p:cNvSpPr txBox="1"/>
          <p:nvPr/>
        </p:nvSpPr>
        <p:spPr>
          <a:xfrm>
            <a:off x="3191915" y="5778732"/>
            <a:ext cx="2626396" cy="1956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lnSpc>
                <a:spcPct val="150000"/>
              </a:lnSpc>
              <a:defRPr b="1">
                <a:uFill>
                  <a:solidFill>
                    <a:srgbClr val="000000"/>
                  </a:solidFill>
                </a:uFill>
                <a:latin typeface="Times New Roman"/>
                <a:ea typeface="Times New Roman"/>
                <a:cs typeface="Times New Roman"/>
                <a:sym typeface="Times New Roman"/>
              </a:defRPr>
            </a:lvl1pPr>
          </a:lstStyle>
          <a:p>
            <a:pPr>
              <a:defRPr b="0"/>
            </a:pPr>
            <a:r>
              <a:rPr b="1"/>
              <a:t> Home Page (After authentication)</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4" name="Picture 6" descr="Picture 6"/>
          <p:cNvPicPr>
            <a:picLocks noChangeAspect="1"/>
          </p:cNvPicPr>
          <p:nvPr/>
        </p:nvPicPr>
        <p:blipFill>
          <a:blip r:embed="rId2">
            <a:extLst/>
          </a:blip>
          <a:stretch>
            <a:fillRect/>
          </a:stretch>
        </p:blipFill>
        <p:spPr>
          <a:xfrm>
            <a:off x="829907" y="1581150"/>
            <a:ext cx="7350412" cy="4330005"/>
          </a:xfrm>
          <a:prstGeom prst="rect">
            <a:avLst/>
          </a:prstGeom>
          <a:ln w="12700">
            <a:miter lim="400000"/>
          </a:ln>
        </p:spPr>
      </p:pic>
      <p:sp>
        <p:nvSpPr>
          <p:cNvPr id="205"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206" name="Log in Page"/>
          <p:cNvSpPr txBox="1"/>
          <p:nvPr/>
        </p:nvSpPr>
        <p:spPr>
          <a:xfrm>
            <a:off x="4212721" y="6041739"/>
            <a:ext cx="911598" cy="1956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defRPr b="1">
                <a:uFill>
                  <a:solidFill>
                    <a:srgbClr val="000000"/>
                  </a:solidFill>
                </a:uFill>
                <a:latin typeface="Times New Roman"/>
                <a:ea typeface="Times New Roman"/>
                <a:cs typeface="Times New Roman"/>
                <a:sym typeface="Times New Roman"/>
              </a:defRPr>
            </a:lvl1pPr>
          </a:lstStyle>
          <a:p>
            <a:pPr/>
            <a:r>
              <a:t>Log in Page</a:t>
            </a:r>
          </a:p>
        </p:txBody>
      </p:sp>
      <p:pic>
        <p:nvPicPr>
          <p:cNvPr id="207"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08"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09"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12"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pic>
        <p:nvPicPr>
          <p:cNvPr id="213" name="Picture 11" descr="Picture 11"/>
          <p:cNvPicPr>
            <a:picLocks noChangeAspect="1"/>
          </p:cNvPicPr>
          <p:nvPr/>
        </p:nvPicPr>
        <p:blipFill>
          <a:blip r:embed="rId2">
            <a:extLst/>
          </a:blip>
          <a:stretch>
            <a:fillRect/>
          </a:stretch>
        </p:blipFill>
        <p:spPr>
          <a:xfrm>
            <a:off x="1121305" y="1656377"/>
            <a:ext cx="6767616" cy="4405089"/>
          </a:xfrm>
          <a:prstGeom prst="rect">
            <a:avLst/>
          </a:prstGeom>
          <a:ln w="12700">
            <a:miter lim="400000"/>
          </a:ln>
        </p:spPr>
      </p:pic>
      <p:sp>
        <p:nvSpPr>
          <p:cNvPr id="214" name="Report Garbage Page"/>
          <p:cNvSpPr txBox="1"/>
          <p:nvPr/>
        </p:nvSpPr>
        <p:spPr>
          <a:xfrm>
            <a:off x="3651955" y="6114008"/>
            <a:ext cx="1706316" cy="1956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lnSpc>
                <a:spcPct val="115000"/>
              </a:lnSpc>
              <a:defRPr b="1">
                <a:uFill>
                  <a:solidFill>
                    <a:srgbClr val="000000"/>
                  </a:solidFill>
                </a:uFill>
                <a:latin typeface="Times New Roman"/>
                <a:ea typeface="Times New Roman"/>
                <a:cs typeface="Times New Roman"/>
                <a:sym typeface="Times New Roman"/>
              </a:defRPr>
            </a:lvl1pPr>
          </a:lstStyle>
          <a:p>
            <a:pPr/>
            <a:r>
              <a:t> Report Garbage Page</a:t>
            </a:r>
          </a:p>
        </p:txBody>
      </p:sp>
      <p:pic>
        <p:nvPicPr>
          <p:cNvPr id="215"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16"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17"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0"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pic>
        <p:nvPicPr>
          <p:cNvPr id="221" name="Picture 13" descr="Picture 13"/>
          <p:cNvPicPr>
            <a:picLocks noChangeAspect="1"/>
          </p:cNvPicPr>
          <p:nvPr/>
        </p:nvPicPr>
        <p:blipFill>
          <a:blip r:embed="rId2">
            <a:extLst/>
          </a:blip>
          <a:stretch>
            <a:fillRect/>
          </a:stretch>
        </p:blipFill>
        <p:spPr>
          <a:xfrm>
            <a:off x="1185841" y="1570643"/>
            <a:ext cx="6638544" cy="4307140"/>
          </a:xfrm>
          <a:prstGeom prst="rect">
            <a:avLst/>
          </a:prstGeom>
          <a:ln w="12700">
            <a:miter lim="400000"/>
          </a:ln>
        </p:spPr>
      </p:pic>
      <p:sp>
        <p:nvSpPr>
          <p:cNvPr id="222" name="Events Page"/>
          <p:cNvSpPr txBox="1"/>
          <p:nvPr/>
        </p:nvSpPr>
        <p:spPr>
          <a:xfrm>
            <a:off x="4103916" y="5949663"/>
            <a:ext cx="936168" cy="49667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lnSpc>
                <a:spcPct val="150000"/>
              </a:lnSpc>
              <a:defRPr b="1">
                <a:uFill>
                  <a:solidFill>
                    <a:srgbClr val="000000"/>
                  </a:solidFill>
                </a:uFill>
                <a:latin typeface="Times New Roman"/>
                <a:ea typeface="Times New Roman"/>
                <a:cs typeface="Times New Roman"/>
                <a:sym typeface="Times New Roman"/>
              </a:defRPr>
            </a:lvl1pPr>
          </a:lstStyle>
          <a:p>
            <a:pPr/>
            <a:r>
              <a:t>Events Page</a:t>
            </a:r>
          </a:p>
        </p:txBody>
      </p:sp>
      <p:pic>
        <p:nvPicPr>
          <p:cNvPr id="223"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24"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25"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7"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28"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pic>
        <p:nvPicPr>
          <p:cNvPr id="229" name="Picture 16" descr="Picture 16"/>
          <p:cNvPicPr>
            <a:picLocks noChangeAspect="1"/>
          </p:cNvPicPr>
          <p:nvPr/>
        </p:nvPicPr>
        <p:blipFill>
          <a:blip r:embed="rId2">
            <a:extLst/>
          </a:blip>
          <a:stretch>
            <a:fillRect/>
          </a:stretch>
        </p:blipFill>
        <p:spPr>
          <a:xfrm>
            <a:off x="1585381" y="1493857"/>
            <a:ext cx="5973238" cy="4141310"/>
          </a:xfrm>
          <a:prstGeom prst="rect">
            <a:avLst/>
          </a:prstGeom>
          <a:ln w="12700">
            <a:miter lim="400000"/>
          </a:ln>
        </p:spPr>
      </p:pic>
      <p:sp>
        <p:nvSpPr>
          <p:cNvPr id="230" name="Shop Page"/>
          <p:cNvSpPr txBox="1"/>
          <p:nvPr/>
        </p:nvSpPr>
        <p:spPr>
          <a:xfrm>
            <a:off x="4101100" y="5899630"/>
            <a:ext cx="808026" cy="42819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lnSpc>
                <a:spcPct val="115000"/>
              </a:lnSpc>
              <a:tabLst>
                <a:tab pos="2159000" algn="l"/>
              </a:tabLst>
              <a:defRPr b="1">
                <a:uFill>
                  <a:solidFill>
                    <a:srgbClr val="000000"/>
                  </a:solidFill>
                </a:uFill>
                <a:latin typeface="Times New Roman"/>
                <a:ea typeface="Times New Roman"/>
                <a:cs typeface="Times New Roman"/>
                <a:sym typeface="Times New Roman"/>
              </a:defRPr>
            </a:lvl1pPr>
          </a:lstStyle>
          <a:p>
            <a:pPr/>
            <a:r>
              <a:t>Shop Page</a:t>
            </a:r>
          </a:p>
        </p:txBody>
      </p:sp>
      <p:pic>
        <p:nvPicPr>
          <p:cNvPr id="231"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32"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33"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6" name="Picture 17" descr="Picture 17"/>
          <p:cNvPicPr>
            <a:picLocks noChangeAspect="1"/>
          </p:cNvPicPr>
          <p:nvPr/>
        </p:nvPicPr>
        <p:blipFill>
          <a:blip r:embed="rId2">
            <a:extLst/>
          </a:blip>
          <a:stretch>
            <a:fillRect/>
          </a:stretch>
        </p:blipFill>
        <p:spPr>
          <a:xfrm>
            <a:off x="1240159" y="1684171"/>
            <a:ext cx="6529908" cy="3708285"/>
          </a:xfrm>
          <a:prstGeom prst="rect">
            <a:avLst/>
          </a:prstGeom>
          <a:ln w="12700">
            <a:miter lim="400000"/>
          </a:ln>
        </p:spPr>
      </p:pic>
      <p:sp>
        <p:nvSpPr>
          <p:cNvPr id="237"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238" name="Officials Dashboard Page"/>
          <p:cNvSpPr txBox="1"/>
          <p:nvPr/>
        </p:nvSpPr>
        <p:spPr>
          <a:xfrm>
            <a:off x="3597647" y="5656179"/>
            <a:ext cx="1948706" cy="1956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lnSpc>
                <a:spcPct val="115000"/>
              </a:lnSpc>
              <a:defRPr b="1">
                <a:uFill>
                  <a:solidFill>
                    <a:srgbClr val="000000"/>
                  </a:solidFill>
                </a:uFill>
                <a:latin typeface="Times New Roman"/>
                <a:ea typeface="Times New Roman"/>
                <a:cs typeface="Times New Roman"/>
                <a:sym typeface="Times New Roman"/>
              </a:defRPr>
            </a:lvl1pPr>
          </a:lstStyle>
          <a:p>
            <a:pPr/>
            <a:r>
              <a:t>Officials Dashboard Page</a:t>
            </a:r>
          </a:p>
        </p:txBody>
      </p:sp>
      <p:pic>
        <p:nvPicPr>
          <p:cNvPr id="239"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40"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41"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4" name="Picture 19" descr="Picture 19"/>
          <p:cNvPicPr>
            <a:picLocks noChangeAspect="1"/>
          </p:cNvPicPr>
          <p:nvPr/>
        </p:nvPicPr>
        <p:blipFill>
          <a:blip r:embed="rId2">
            <a:extLst/>
          </a:blip>
          <a:stretch>
            <a:fillRect/>
          </a:stretch>
        </p:blipFill>
        <p:spPr>
          <a:xfrm>
            <a:off x="1282246" y="1596425"/>
            <a:ext cx="6445734" cy="4059231"/>
          </a:xfrm>
          <a:prstGeom prst="rect">
            <a:avLst/>
          </a:prstGeom>
          <a:ln w="12700">
            <a:miter lim="400000"/>
          </a:ln>
        </p:spPr>
      </p:pic>
      <p:sp>
        <p:nvSpPr>
          <p:cNvPr id="245" name="Excelssior Education Society’s           K. C. College of Engineering &amp; Management Studies &amp; Research   (Affiliated to the University of Mumbai &amp; Approved by AICTE) Mith Bunder Road, Near Hume Pipe, Kopri, Thane (E) – 400603 NAAC Accredited with A Grade "/>
          <p:cNvSpPr txBox="1"/>
          <p:nvPr/>
        </p:nvSpPr>
        <p:spPr>
          <a:xfrm>
            <a:off x="390312" y="124493"/>
            <a:ext cx="8229601"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lgn="ctr" defTabSz="841247">
              <a:defRPr b="1" sz="1472">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656">
                <a:solidFill>
                  <a:srgbClr val="FF0000"/>
                </a:solidFill>
              </a:rPr>
              <a:t>         </a:t>
            </a:r>
            <a:r>
              <a:rPr sz="1656">
                <a:solidFill>
                  <a:srgbClr val="1F3864"/>
                </a:solidFill>
              </a:rPr>
              <a:t>K. C. College of Engineering &amp; Management Studies &amp; Research  </a:t>
            </a:r>
            <a:br>
              <a:rPr sz="1656">
                <a:solidFill>
                  <a:srgbClr val="1F3864"/>
                </a:solidFill>
              </a:rPr>
            </a:br>
            <a:r>
              <a:rPr sz="1288">
                <a:solidFill>
                  <a:srgbClr val="1F3864"/>
                </a:solidFill>
              </a:rPr>
              <a:t>(Affiliated to the University of Mumbai &amp; Approved by AICTE)</a:t>
            </a:r>
            <a:br>
              <a:rPr sz="1288">
                <a:solidFill>
                  <a:srgbClr val="1F3864"/>
                </a:solidFill>
              </a:rPr>
            </a:br>
            <a:r>
              <a:rPr sz="1288">
                <a:solidFill>
                  <a:srgbClr val="1F3864"/>
                </a:solidFill>
              </a:rPr>
              <a:t>Mith Bunder Road, Near Hume Pipe, Kopri, Thane (E) – 400603</a:t>
            </a:r>
            <a:br>
              <a:rPr sz="1288">
                <a:solidFill>
                  <a:srgbClr val="1F3864"/>
                </a:solidFill>
              </a:rPr>
            </a:br>
            <a:r>
              <a:rPr sz="1288">
                <a:solidFill>
                  <a:srgbClr val="1F3864"/>
                </a:solidFill>
              </a:rPr>
              <a:t>NAAC Accredited with A Grade (NBA Accredited)</a:t>
            </a:r>
          </a:p>
        </p:txBody>
      </p:sp>
      <p:sp>
        <p:nvSpPr>
          <p:cNvPr id="246" name="Admin Dashboard Page"/>
          <p:cNvSpPr txBox="1"/>
          <p:nvPr/>
        </p:nvSpPr>
        <p:spPr>
          <a:xfrm>
            <a:off x="3656769" y="5919111"/>
            <a:ext cx="1830462" cy="3988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defTabSz="457200">
              <a:defRPr b="1">
                <a:uFill>
                  <a:solidFill>
                    <a:srgbClr val="000000"/>
                  </a:solidFill>
                </a:uFill>
                <a:latin typeface="Times New Roman"/>
                <a:ea typeface="Times New Roman"/>
                <a:cs typeface="Times New Roman"/>
                <a:sym typeface="Times New Roman"/>
              </a:defRPr>
            </a:lvl1pPr>
          </a:lstStyle>
          <a:p>
            <a:pPr/>
            <a:r>
              <a:t>Admin Dashboard Page</a:t>
            </a:r>
          </a:p>
        </p:txBody>
      </p:sp>
      <p:pic>
        <p:nvPicPr>
          <p:cNvPr id="247" name="Google Shape;237;p19" descr="Google Shape;237;p19"/>
          <p:cNvPicPr>
            <a:picLocks noChangeAspect="1"/>
          </p:cNvPicPr>
          <p:nvPr/>
        </p:nvPicPr>
        <p:blipFill>
          <a:blip r:embed="rId3">
            <a:extLst/>
          </a:blip>
          <a:stretch>
            <a:fillRect/>
          </a:stretch>
        </p:blipFill>
        <p:spPr>
          <a:xfrm>
            <a:off x="304800" y="203571"/>
            <a:ext cx="1192647" cy="843373"/>
          </a:xfrm>
          <a:prstGeom prst="rect">
            <a:avLst/>
          </a:prstGeom>
          <a:ln w="12700">
            <a:miter lim="400000"/>
          </a:ln>
        </p:spPr>
      </p:pic>
      <p:pic>
        <p:nvPicPr>
          <p:cNvPr id="248" name="Google Shape;232;p19" descr="Google Shape;232;p19"/>
          <p:cNvPicPr>
            <a:picLocks noChangeAspect="1"/>
          </p:cNvPicPr>
          <p:nvPr/>
        </p:nvPicPr>
        <p:blipFill>
          <a:blip r:embed="rId4">
            <a:extLst/>
          </a:blip>
          <a:stretch>
            <a:fillRect/>
          </a:stretch>
        </p:blipFill>
        <p:spPr>
          <a:xfrm>
            <a:off x="7952013" y="236538"/>
            <a:ext cx="838201" cy="838201"/>
          </a:xfrm>
          <a:prstGeom prst="rect">
            <a:avLst/>
          </a:prstGeom>
          <a:ln w="12700">
            <a:miter lim="400000"/>
          </a:ln>
        </p:spPr>
      </p:pic>
      <p:sp>
        <p:nvSpPr>
          <p:cNvPr id="249" name="Google Shape;225;p19"/>
          <p:cNvSpPr/>
          <p:nvPr/>
        </p:nvSpPr>
        <p:spPr>
          <a:xfrm>
            <a:off x="106440" y="1364808"/>
            <a:ext cx="8991600" cy="1500"/>
          </a:xfrm>
          <a:prstGeom prst="line">
            <a:avLst/>
          </a:prstGeom>
          <a:ln>
            <a:solidFill>
              <a:srgbClr val="4A7DBA"/>
            </a:solidFill>
          </a:ln>
        </p:spPr>
        <p:txBody>
          <a:bodyPr lIns="0" tIns="0" rIns="0" bIns="0"/>
          <a:lstStyle/>
          <a:p>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Google Shape;242;p20"/>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2" name="Google Shape;243;p20"/>
          <p:cNvSpPr txBox="1"/>
          <p:nvPr/>
        </p:nvSpPr>
        <p:spPr>
          <a:xfrm>
            <a:off x="187238" y="905293"/>
            <a:ext cx="8138152"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a:defRPr b="1" sz="2800" u="sng">
                <a:solidFill>
                  <a:srgbClr val="1F497D"/>
                </a:solidFill>
                <a:latin typeface="Times New Roman"/>
                <a:ea typeface="Times New Roman"/>
                <a:cs typeface="Times New Roman"/>
                <a:sym typeface="Times New Roman"/>
              </a:defRPr>
            </a:pPr>
            <a:br/>
            <a:r>
              <a:rPr u="none"/>
              <a:t>METHODOLOGY</a:t>
            </a:r>
          </a:p>
        </p:txBody>
      </p:sp>
      <p:sp>
        <p:nvSpPr>
          <p:cNvPr id="253" name="Google Shape;244;p20"/>
          <p:cNvSpPr txBox="1"/>
          <p:nvPr/>
        </p:nvSpPr>
        <p:spPr>
          <a:xfrm>
            <a:off x="279875" y="1862090"/>
            <a:ext cx="8584250" cy="468561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187157" indent="-187157" algn="just" defTabSz="457200">
              <a:spcBef>
                <a:spcPts val="1400"/>
              </a:spcBef>
              <a:buSzPct val="100000"/>
              <a:buAutoNum type="arabicPeriod" startAt="1"/>
              <a:defRPr b="1">
                <a:latin typeface="Times New Roman"/>
                <a:ea typeface="Times New Roman"/>
                <a:cs typeface="Times New Roman"/>
                <a:sym typeface="Times New Roman"/>
              </a:defRPr>
            </a:pPr>
            <a:r>
              <a:t>Core Frontend &amp; Navigation Flow</a:t>
            </a:r>
          </a:p>
          <a:p>
            <a:pPr lvl="1" marL="521368" indent="-140368" algn="just" defTabSz="457200">
              <a:spcBef>
                <a:spcPts val="1400"/>
              </a:spcBef>
              <a:buSzPct val="100000"/>
              <a:buChar char="•"/>
              <a:defRPr>
                <a:latin typeface="Times New Roman"/>
                <a:ea typeface="Times New Roman"/>
                <a:cs typeface="Times New Roman"/>
                <a:sym typeface="Times New Roman"/>
              </a:defRPr>
            </a:pPr>
            <a:r>
              <a:t>The React_App provides the top-level User Interface (Nav, Dash, Map) for a seamless Single-Page Application</a:t>
            </a:r>
          </a:p>
          <a:p>
            <a:pPr lvl="1" marL="521368" indent="-140368" algn="just" defTabSz="457200">
              <a:spcBef>
                <a:spcPts val="1400"/>
              </a:spcBef>
              <a:buSzPct val="100000"/>
              <a:buChar char="•"/>
              <a:defRPr>
                <a:latin typeface="Times New Roman"/>
                <a:ea typeface="Times New Roman"/>
                <a:cs typeface="Times New Roman"/>
                <a:sym typeface="Times New Roman"/>
              </a:defRPr>
            </a:pPr>
            <a:r>
              <a:t>The React Router acts as the central control, directing user navigation to the correct functional module.</a:t>
            </a:r>
          </a:p>
          <a:p>
            <a:pPr algn="just" defTabSz="457200">
              <a:spcBef>
                <a:spcPts val="1400"/>
              </a:spcBef>
              <a:defRPr b="1">
                <a:latin typeface="Times New Roman"/>
                <a:ea typeface="Times New Roman"/>
                <a:cs typeface="Times New Roman"/>
                <a:sym typeface="Times New Roman"/>
              </a:defRPr>
            </a:pPr>
            <a:r>
              <a:t>2. Committee Route and Governance Data</a:t>
            </a:r>
          </a:p>
          <a:p>
            <a:pPr lvl="1" marL="521368" indent="-140368" algn="just" defTabSz="457200">
              <a:spcBef>
                <a:spcPts val="1400"/>
              </a:spcBef>
              <a:buSzPct val="100000"/>
              <a:buChar char="•"/>
              <a:defRPr>
                <a:latin typeface="Times New Roman"/>
                <a:ea typeface="Times New Roman"/>
                <a:cs typeface="Times New Roman"/>
                <a:sym typeface="Times New Roman"/>
              </a:defRPr>
            </a:pPr>
            <a:r>
              <a:t>The Committee Route manages all administrative content and user interactions related to governance.</a:t>
            </a:r>
          </a:p>
          <a:p>
            <a:pPr lvl="1" marL="521368" indent="-140368" algn="just" defTabSz="457200">
              <a:spcBef>
                <a:spcPts val="1400"/>
              </a:spcBef>
              <a:buSzPct val="100000"/>
              <a:buChar char="•"/>
              <a:defRPr>
                <a:latin typeface="Times New Roman"/>
                <a:ea typeface="Times New Roman"/>
                <a:cs typeface="Times New Roman"/>
                <a:sym typeface="Times New Roman"/>
              </a:defRPr>
            </a:pPr>
            <a:r>
              <a:t>It handles the storage and retrieval of core structured data directly from Mongo Atlas.</a:t>
            </a:r>
          </a:p>
          <a:p>
            <a:pPr algn="just" defTabSz="457200">
              <a:spcBef>
                <a:spcPts val="1400"/>
              </a:spcBef>
              <a:defRPr b="1">
                <a:latin typeface="Times New Roman"/>
                <a:ea typeface="Times New Roman"/>
                <a:cs typeface="Times New Roman"/>
                <a:sym typeface="Times New Roman"/>
              </a:defRPr>
            </a:pPr>
            <a:r>
              <a:t>3. Shop Route and E-commerce</a:t>
            </a:r>
          </a:p>
          <a:p>
            <a:pPr lvl="1" marL="521368" indent="-140368" algn="just" defTabSz="457200">
              <a:spcBef>
                <a:spcPts val="1400"/>
              </a:spcBef>
              <a:buSzPct val="100000"/>
              <a:buChar char="•"/>
              <a:defRPr>
                <a:latin typeface="Times New Roman"/>
                <a:ea typeface="Times New Roman"/>
                <a:cs typeface="Times New Roman"/>
                <a:sym typeface="Times New Roman"/>
              </a:defRPr>
            </a:pPr>
            <a:r>
              <a:t>The Shop Route presents product listings and manages the order creation process.</a:t>
            </a:r>
          </a:p>
          <a:p>
            <a:pPr lvl="1" marL="521368" indent="-140368" algn="just" defTabSz="457200">
              <a:spcBef>
                <a:spcPts val="1400"/>
              </a:spcBef>
              <a:buSzPct val="100000"/>
              <a:buChar char="•"/>
              <a:defRPr>
                <a:latin typeface="Times New Roman"/>
                <a:ea typeface="Times New Roman"/>
                <a:cs typeface="Times New Roman"/>
                <a:sym typeface="Times New Roman"/>
              </a:defRPr>
            </a:pPr>
            <a:r>
              <a:t>It saves inventory details to Mongo Atlas and fetches product media from Cloudinary.The route initiates payments by connecting to the secure RazorPay payment interface.</a:t>
            </a:r>
          </a:p>
          <a:p>
            <a:pPr algn="just" defTabSz="457200">
              <a:spcBef>
                <a:spcPts val="1400"/>
              </a:spcBef>
              <a:defRPr b="1">
                <a:latin typeface="Times New Roman"/>
                <a:ea typeface="Times New Roman"/>
                <a:cs typeface="Times New Roman"/>
                <a:sym typeface="Times New Roman"/>
              </a:defRPr>
            </a:pPr>
            <a:r>
              <a:t>4. Reports Route and AI-Driven Analysis</a:t>
            </a:r>
          </a:p>
          <a:p>
            <a:pPr lvl="1" marL="521368" indent="-140368" algn="just" defTabSz="457200">
              <a:spcBef>
                <a:spcPts val="1400"/>
              </a:spcBef>
              <a:buSzPct val="100000"/>
              <a:buChar char="•"/>
              <a:defRPr>
                <a:latin typeface="Times New Roman"/>
                <a:ea typeface="Times New Roman"/>
                <a:cs typeface="Times New Roman"/>
                <a:sym typeface="Times New Roman"/>
              </a:defRPr>
            </a:pPr>
            <a:r>
              <a:t>The Reports Route manages the submission and display of analytical data.</a:t>
            </a:r>
          </a:p>
          <a:p>
            <a:pPr lvl="1" marL="521368" indent="-140368" algn="just" defTabSz="457200">
              <a:spcBef>
                <a:spcPts val="1400"/>
              </a:spcBef>
              <a:buSzPct val="100000"/>
              <a:buChar char="•"/>
              <a:defRPr>
                <a:latin typeface="Times New Roman"/>
                <a:ea typeface="Times New Roman"/>
                <a:cs typeface="Times New Roman"/>
                <a:sym typeface="Times New Roman"/>
              </a:defRPr>
            </a:pPr>
            <a:r>
              <a:t>It integrates with the YOLOv8 Object Detection service to analyze visual data and generate intelligent reports.</a:t>
            </a:r>
          </a:p>
        </p:txBody>
      </p:sp>
      <p:pic>
        <p:nvPicPr>
          <p:cNvPr id="254" name="Google Shape;245;p20" descr="Google Shape;245;p20"/>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pic>
        <p:nvPicPr>
          <p:cNvPr id="255" name="Google Shape;246;p20" descr="Google Shape;246;p20"/>
          <p:cNvPicPr>
            <a:picLocks noChangeAspect="1"/>
          </p:cNvPicPr>
          <p:nvPr/>
        </p:nvPicPr>
        <p:blipFill>
          <a:blip r:embed="rId3">
            <a:extLst/>
          </a:blip>
          <a:stretch>
            <a:fillRect/>
          </a:stretch>
        </p:blipFill>
        <p:spPr>
          <a:xfrm>
            <a:off x="7952013" y="236538"/>
            <a:ext cx="838201" cy="838201"/>
          </a:xfrm>
          <a:prstGeom prst="rect">
            <a:avLst/>
          </a:prstGeom>
          <a:ln w="12700">
            <a:miter lim="400000"/>
          </a:ln>
        </p:spPr>
      </p:pic>
      <p:sp>
        <p:nvSpPr>
          <p:cNvPr id="256" name="Google Shape;247;p20"/>
          <p:cNvSpPr/>
          <p:nvPr/>
        </p:nvSpPr>
        <p:spPr>
          <a:xfrm>
            <a:off x="76199" y="1302106"/>
            <a:ext cx="8991602" cy="1501"/>
          </a:xfrm>
          <a:prstGeom prst="line">
            <a:avLst/>
          </a:prstGeom>
          <a:ln>
            <a:solidFill>
              <a:srgbClr val="4A7DBA"/>
            </a:solidFill>
          </a:ln>
        </p:spPr>
        <p:txBody>
          <a:bodyPr lIns="0" tIns="0" rIns="0" bIns="0"/>
          <a:lstStyle/>
          <a:p>
            <a:pPr/>
          </a:p>
        </p:txBody>
      </p:sp>
      <p:sp>
        <p:nvSpPr>
          <p:cNvPr id="257" name="Google Shape;248;p20"/>
          <p:cNvSpPr txBox="1"/>
          <p:nvPr/>
        </p:nvSpPr>
        <p:spPr>
          <a:xfrm>
            <a:off x="901016" y="75495"/>
            <a:ext cx="7489687" cy="11506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a:solidFill>
                  <a:srgbClr val="1F3864"/>
                </a:solidFill>
              </a:rPr>
              <a:t>K. C. College of Engineering &amp; Management Studies &amp; Research  </a:t>
            </a:r>
            <a:br>
              <a:rPr>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Google Shape;253;p21"/>
          <p:cNvSpPr txBox="1"/>
          <p:nvPr>
            <p:ph type="sldNum" sz="quarter" idx="2"/>
          </p:nvPr>
        </p:nvSpPr>
        <p:spPr>
          <a:xfrm>
            <a:off x="8428216" y="6414767"/>
            <a:ext cx="258584" cy="24826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60" name="Google Shape;254;p21"/>
          <p:cNvSpPr txBox="1"/>
          <p:nvPr/>
        </p:nvSpPr>
        <p:spPr>
          <a:xfrm>
            <a:off x="353700" y="1554749"/>
            <a:ext cx="8584250" cy="94575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457200" indent="-323850">
              <a:lnSpc>
                <a:spcPct val="115000"/>
              </a:lnSpc>
              <a:buClr>
                <a:srgbClr val="000000"/>
              </a:buClr>
              <a:buSzPts val="1500"/>
              <a:buFont typeface="Times New Roman"/>
              <a:buChar char="●"/>
              <a:defRPr sz="1500">
                <a:latin typeface="Times New Roman"/>
                <a:ea typeface="Times New Roman"/>
                <a:cs typeface="Times New Roman"/>
                <a:sym typeface="Times New Roman"/>
              </a:defRPr>
            </a:pPr>
            <a:endParaRPr b="1"/>
          </a:p>
          <a:p>
            <a:pPr>
              <a:lnSpc>
                <a:spcPct val="115000"/>
              </a:lnSpc>
              <a:spcBef>
                <a:spcPts val="1200"/>
              </a:spcBef>
            </a:pPr>
            <a:endParaRPr b="1" sz="1500">
              <a:latin typeface="Times New Roman"/>
              <a:ea typeface="Times New Roman"/>
              <a:cs typeface="Times New Roman"/>
              <a:sym typeface="Times New Roman"/>
            </a:endParaRPr>
          </a:p>
        </p:txBody>
      </p:sp>
      <p:pic>
        <p:nvPicPr>
          <p:cNvPr id="261" name="Google Shape;255;p21" descr="Google Shape;255;p21"/>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pic>
        <p:nvPicPr>
          <p:cNvPr id="262" name="Google Shape;256;p21" descr="Google Shape;256;p21"/>
          <p:cNvPicPr>
            <a:picLocks noChangeAspect="1"/>
          </p:cNvPicPr>
          <p:nvPr/>
        </p:nvPicPr>
        <p:blipFill>
          <a:blip r:embed="rId3">
            <a:extLst/>
          </a:blip>
          <a:stretch>
            <a:fillRect/>
          </a:stretch>
        </p:blipFill>
        <p:spPr>
          <a:xfrm>
            <a:off x="7952013" y="236538"/>
            <a:ext cx="838201" cy="838201"/>
          </a:xfrm>
          <a:prstGeom prst="rect">
            <a:avLst/>
          </a:prstGeom>
          <a:ln w="12700">
            <a:miter lim="400000"/>
          </a:ln>
        </p:spPr>
      </p:pic>
      <p:sp>
        <p:nvSpPr>
          <p:cNvPr id="263" name="Google Shape;257;p21"/>
          <p:cNvSpPr/>
          <p:nvPr/>
        </p:nvSpPr>
        <p:spPr>
          <a:xfrm>
            <a:off x="76199" y="1302106"/>
            <a:ext cx="8991602" cy="1501"/>
          </a:xfrm>
          <a:prstGeom prst="line">
            <a:avLst/>
          </a:prstGeom>
          <a:ln>
            <a:solidFill>
              <a:srgbClr val="4A7DBA"/>
            </a:solidFill>
          </a:ln>
        </p:spPr>
        <p:txBody>
          <a:bodyPr lIns="0" tIns="0" rIns="0" bIns="0"/>
          <a:lstStyle/>
          <a:p>
            <a:pPr/>
          </a:p>
        </p:txBody>
      </p:sp>
      <p:sp>
        <p:nvSpPr>
          <p:cNvPr id="264" name="Google Shape;258;p21"/>
          <p:cNvSpPr txBox="1"/>
          <p:nvPr/>
        </p:nvSpPr>
        <p:spPr>
          <a:xfrm>
            <a:off x="901015" y="50096"/>
            <a:ext cx="7489552" cy="115064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a:solidFill>
                  <a:srgbClr val="1F3864"/>
                </a:solidFill>
              </a:rPr>
              <a:t>K. C. College of Engineering &amp; Management Studies &amp; Research  </a:t>
            </a:r>
            <a:br>
              <a:rPr>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sp>
        <p:nvSpPr>
          <p:cNvPr id="265" name="5. Events Route and Location Management…"/>
          <p:cNvSpPr txBox="1"/>
          <p:nvPr/>
        </p:nvSpPr>
        <p:spPr>
          <a:xfrm>
            <a:off x="175425" y="1530975"/>
            <a:ext cx="8940800" cy="48811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defTabSz="457200">
              <a:spcBef>
                <a:spcPts val="1400"/>
              </a:spcBef>
              <a:defRPr b="1">
                <a:latin typeface="Times Roman"/>
                <a:ea typeface="Times Roman"/>
                <a:cs typeface="Times Roman"/>
                <a:sym typeface="Times Roman"/>
              </a:defRPr>
            </a:pPr>
            <a:r>
              <a:t>5. Events Route and Location Management</a:t>
            </a:r>
          </a:p>
          <a:p>
            <a:pPr lvl="1" marL="521368" indent="-140368" algn="just" defTabSz="457200">
              <a:spcBef>
                <a:spcPts val="1400"/>
              </a:spcBef>
              <a:buSzPct val="100000"/>
              <a:buChar char="•"/>
              <a:defRPr>
                <a:latin typeface="Times Roman"/>
                <a:ea typeface="Times Roman"/>
                <a:cs typeface="Times Roman"/>
                <a:sym typeface="Times Roman"/>
              </a:defRPr>
            </a:pPr>
            <a:r>
              <a:t>The Events Route is responsible for displaying and managing all location-specific events.</a:t>
            </a:r>
          </a:p>
          <a:p>
            <a:pPr lvl="1" marL="521368" indent="-140368" algn="just" defTabSz="457200">
              <a:spcBef>
                <a:spcPts val="1400"/>
              </a:spcBef>
              <a:buSzPct val="100000"/>
              <a:buChar char="•"/>
              <a:defRPr>
                <a:latin typeface="Times Roman"/>
                <a:ea typeface="Times Roman"/>
                <a:cs typeface="Times Roman"/>
                <a:sym typeface="Times Roman"/>
              </a:defRPr>
            </a:pPr>
            <a:r>
              <a:t>It uses React Leaflet to visualize event locations on an interactive map.</a:t>
            </a:r>
          </a:p>
          <a:p>
            <a:pPr lvl="1" marL="521368" indent="-140368" algn="just" defTabSz="457200">
              <a:spcBef>
                <a:spcPts val="1400"/>
              </a:spcBef>
              <a:buSzPct val="100000"/>
              <a:buChar char="•"/>
              <a:defRPr>
                <a:latin typeface="Times Roman"/>
                <a:ea typeface="Times Roman"/>
                <a:cs typeface="Times Roman"/>
                <a:sym typeface="Times Roman"/>
              </a:defRPr>
            </a:pPr>
            <a:r>
              <a:t>The route uses the Geocoding Module to convert event addresses into precise map coordinates.</a:t>
            </a:r>
          </a:p>
          <a:p>
            <a:pPr algn="just" defTabSz="457200">
              <a:spcBef>
                <a:spcPts val="1400"/>
              </a:spcBef>
              <a:defRPr b="1">
                <a:latin typeface="Times Roman"/>
                <a:ea typeface="Times Roman"/>
                <a:cs typeface="Times Roman"/>
                <a:sym typeface="Times Roman"/>
              </a:defRPr>
            </a:pPr>
            <a:r>
              <a:t>6. Map Route and Geospatial Utilities</a:t>
            </a:r>
          </a:p>
          <a:p>
            <a:pPr lvl="1" marL="521368" indent="-140368" algn="just" defTabSz="457200">
              <a:spcBef>
                <a:spcPts val="1400"/>
              </a:spcBef>
              <a:buSzPct val="100000"/>
              <a:buChar char="•"/>
              <a:defRPr>
                <a:latin typeface="Times Roman"/>
                <a:ea typeface="Times Roman"/>
                <a:cs typeface="Times Roman"/>
                <a:sym typeface="Times Roman"/>
              </a:defRPr>
            </a:pPr>
            <a:r>
              <a:t>The Map Route renders the main application map view for general location browsing.</a:t>
            </a:r>
          </a:p>
          <a:p>
            <a:pPr lvl="1" marL="521368" indent="-140368" algn="just" defTabSz="457200">
              <a:spcBef>
                <a:spcPts val="1400"/>
              </a:spcBef>
              <a:buSzPct val="100000"/>
              <a:buChar char="•"/>
              <a:defRPr>
                <a:latin typeface="Times Roman"/>
                <a:ea typeface="Times Roman"/>
                <a:cs typeface="Times Roman"/>
                <a:sym typeface="Times Roman"/>
              </a:defRPr>
            </a:pPr>
            <a:r>
              <a:t>It relies on React Leaflet for the visual presentation and interactivity of the map.</a:t>
            </a:r>
          </a:p>
          <a:p>
            <a:pPr lvl="1" marL="521368" indent="-140368" algn="just" defTabSz="457200">
              <a:spcBef>
                <a:spcPts val="1400"/>
              </a:spcBef>
              <a:buSzPct val="100000"/>
              <a:buChar char="•"/>
              <a:defRPr>
                <a:latin typeface="Times Roman"/>
                <a:ea typeface="Times Roman"/>
                <a:cs typeface="Times Roman"/>
                <a:sym typeface="Times Roman"/>
              </a:defRPr>
            </a:pPr>
            <a:r>
              <a:t>The route utilizes the Geocoding Module for real-time address lookup and coordinate searching.</a:t>
            </a:r>
          </a:p>
          <a:p>
            <a:pPr algn="just" defTabSz="457200">
              <a:spcBef>
                <a:spcPts val="1400"/>
              </a:spcBef>
              <a:defRPr b="1">
                <a:latin typeface="Times Roman"/>
                <a:ea typeface="Times Roman"/>
                <a:cs typeface="Times Roman"/>
                <a:sym typeface="Times Roman"/>
              </a:defRPr>
            </a:pPr>
            <a:r>
              <a:t>7. Architectural Strategy and External Services</a:t>
            </a:r>
          </a:p>
          <a:p>
            <a:pPr lvl="1" marL="521368" indent="-140368" algn="just" defTabSz="457200">
              <a:spcBef>
                <a:spcPts val="1400"/>
              </a:spcBef>
              <a:buSzPct val="100000"/>
              <a:buChar char="•"/>
              <a:defRPr>
                <a:latin typeface="Times Roman"/>
                <a:ea typeface="Times Roman"/>
                <a:cs typeface="Times Roman"/>
                <a:sym typeface="Times Roman"/>
              </a:defRPr>
            </a:pPr>
            <a:r>
              <a:t>The Cloud_Databases layer provides persistence via Mongo Atlas and media management via Cloudinary.</a:t>
            </a:r>
          </a:p>
          <a:p>
            <a:pPr lvl="1" marL="521368" indent="-140368" algn="just" defTabSz="457200">
              <a:spcBef>
                <a:spcPts val="1400"/>
              </a:spcBef>
              <a:buSzPct val="100000"/>
              <a:buChar char="•"/>
              <a:defRPr>
                <a:latin typeface="Times Roman"/>
                <a:ea typeface="Times Roman"/>
                <a:cs typeface="Times Roman"/>
                <a:sym typeface="Times Roman"/>
              </a:defRPr>
            </a:pPr>
            <a:r>
              <a:t>The External_API_Services layer groups all specialized tools (RazorPay, YOLOv8, Mapping, Geocoding) to decouple complex tasks from the core application logic.</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Google Shape;263;p22"/>
          <p:cNvSpPr txBox="1"/>
          <p:nvPr>
            <p:ph type="sldNum" sz="quarter" idx="2"/>
          </p:nvPr>
        </p:nvSpPr>
        <p:spPr>
          <a:xfrm>
            <a:off x="8428216" y="6414767"/>
            <a:ext cx="258584" cy="248266"/>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68" name="Google Shape;265;p22" descr="Google Shape;265;p22"/>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pic>
        <p:nvPicPr>
          <p:cNvPr id="269" name="Google Shape;266;p22" descr="Google Shape;266;p22"/>
          <p:cNvPicPr>
            <a:picLocks noChangeAspect="1"/>
          </p:cNvPicPr>
          <p:nvPr/>
        </p:nvPicPr>
        <p:blipFill>
          <a:blip r:embed="rId3">
            <a:extLst/>
          </a:blip>
          <a:stretch>
            <a:fillRect/>
          </a:stretch>
        </p:blipFill>
        <p:spPr>
          <a:xfrm>
            <a:off x="7952013" y="236538"/>
            <a:ext cx="838201" cy="838201"/>
          </a:xfrm>
          <a:prstGeom prst="rect">
            <a:avLst/>
          </a:prstGeom>
          <a:ln w="12700">
            <a:miter lim="400000"/>
          </a:ln>
        </p:spPr>
      </p:pic>
      <p:sp>
        <p:nvSpPr>
          <p:cNvPr id="270" name="Google Shape;267;p22"/>
          <p:cNvSpPr/>
          <p:nvPr/>
        </p:nvSpPr>
        <p:spPr>
          <a:xfrm>
            <a:off x="76199" y="1302106"/>
            <a:ext cx="8991602" cy="1501"/>
          </a:xfrm>
          <a:prstGeom prst="line">
            <a:avLst/>
          </a:prstGeom>
          <a:ln>
            <a:solidFill>
              <a:srgbClr val="4A7DBA"/>
            </a:solidFill>
          </a:ln>
        </p:spPr>
        <p:txBody>
          <a:bodyPr lIns="0" tIns="0" rIns="0" bIns="0"/>
          <a:lstStyle/>
          <a:p>
            <a:pPr/>
          </a:p>
        </p:txBody>
      </p:sp>
      <p:sp>
        <p:nvSpPr>
          <p:cNvPr id="271" name="Google Shape;268;p22"/>
          <p:cNvSpPr txBox="1"/>
          <p:nvPr/>
        </p:nvSpPr>
        <p:spPr>
          <a:xfrm>
            <a:off x="850215" y="24696"/>
            <a:ext cx="7489552" cy="117604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a:solidFill>
                  <a:srgbClr val="1F3864"/>
                </a:solidFill>
              </a:rPr>
              <a:t>K. C. College of Engineering &amp; Management Studies &amp; Research  </a:t>
            </a:r>
            <a:br>
              <a:rPr>
                <a:solidFill>
                  <a:srgbClr val="1F3864"/>
                </a:solidFill>
              </a:rPr>
            </a:br>
            <a:r>
              <a:rPr>
                <a:solidFill>
                  <a:srgbClr val="1F3864"/>
                </a:solidFill>
              </a:rPr>
              <a:t>(</a:t>
            </a: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pic>
        <p:nvPicPr>
          <p:cNvPr id="272" name="pasted-movie.png" descr="pasted-movie.png"/>
          <p:cNvPicPr>
            <a:picLocks noChangeAspect="1"/>
          </p:cNvPicPr>
          <p:nvPr/>
        </p:nvPicPr>
        <p:blipFill>
          <a:blip r:embed="rId4">
            <a:extLst/>
          </a:blip>
          <a:stretch>
            <a:fillRect/>
          </a:stretch>
        </p:blipFill>
        <p:spPr>
          <a:xfrm>
            <a:off x="355600" y="1643821"/>
            <a:ext cx="8109891" cy="4201864"/>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Google Shape;274;p23"/>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75" name="Google Shape;275;p23"/>
          <p:cNvSpPr txBox="1"/>
          <p:nvPr/>
        </p:nvSpPr>
        <p:spPr>
          <a:xfrm>
            <a:off x="502924" y="990600"/>
            <a:ext cx="8138152" cy="11430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a:defRPr b="1" sz="2800" u="sng">
                <a:solidFill>
                  <a:srgbClr val="1F497D"/>
                </a:solidFill>
                <a:latin typeface="Times New Roman"/>
                <a:ea typeface="Times New Roman"/>
                <a:cs typeface="Times New Roman"/>
                <a:sym typeface="Times New Roman"/>
              </a:defRPr>
            </a:pPr>
            <a:br/>
            <a:r>
              <a:rPr u="none"/>
              <a:t>RESULT &amp; ANALYSIS</a:t>
            </a:r>
          </a:p>
        </p:txBody>
      </p:sp>
      <p:sp>
        <p:nvSpPr>
          <p:cNvPr id="276" name="Google Shape;276;p23"/>
          <p:cNvSpPr txBox="1"/>
          <p:nvPr/>
        </p:nvSpPr>
        <p:spPr>
          <a:xfrm>
            <a:off x="312853" y="2208943"/>
            <a:ext cx="7973750" cy="356254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Improved Cleanliness Management</a:t>
            </a:r>
            <a:r>
              <a:rPr b="0"/>
              <a:t> — Verified completion of tasks with a robust feedback loop and quality control measures.</a:t>
            </a:r>
          </a:p>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Accurate Risk Prediction</a:t>
            </a:r>
            <a:r>
              <a:rPr b="0"/>
              <a:t> — Identified high-waste zones using past trends, events, and footfall patterns, enabling preventive action.</a:t>
            </a:r>
          </a:p>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Sustainability Achieved</a:t>
            </a:r>
            <a:r>
              <a:rPr b="0"/>
              <a:t> — Used existing CCTV infrastructure, reduced hardware costs, and minimized fuel use with optimized routes.</a:t>
            </a:r>
          </a:p>
          <a:p>
            <a:pPr marL="457200" indent="-323850" algn="just">
              <a:lnSpc>
                <a:spcPct val="115000"/>
              </a:lnSpc>
              <a:buClr>
                <a:srgbClr val="000000"/>
              </a:buClr>
              <a:buSzPts val="1500"/>
              <a:buFont typeface="Times New Roman"/>
              <a:buChar char="•"/>
              <a:defRPr sz="1500">
                <a:latin typeface="Times New Roman"/>
                <a:ea typeface="Times New Roman"/>
                <a:cs typeface="Times New Roman"/>
                <a:sym typeface="Times New Roman"/>
              </a:defRPr>
            </a:pPr>
            <a:r>
              <a:t> </a:t>
            </a:r>
            <a:r>
              <a:rPr b="1"/>
              <a:t>Eco-Friendly Practices</a:t>
            </a:r>
            <a:r>
              <a:t> — Encouraged waste segregation and responsible disposal habits among citizens.</a:t>
            </a:r>
          </a:p>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Efficient Monitoring</a:t>
            </a:r>
            <a:r>
              <a:rPr b="0"/>
              <a:t> — Centralized dashboard with real-time violation tracking, cleanup progress, heatmaps, and cleanliness scores.</a:t>
            </a:r>
          </a:p>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Motivated Participation</a:t>
            </a:r>
            <a:r>
              <a:rPr b="0"/>
              <a:t> — Leaderboards and recognition boosted citizen and staff engagement.</a:t>
            </a:r>
          </a:p>
          <a:p>
            <a:pPr marL="457200" indent="-323850" algn="just">
              <a:lnSpc>
                <a:spcPct val="115000"/>
              </a:lnSpc>
              <a:buClr>
                <a:srgbClr val="000000"/>
              </a:buClr>
              <a:buSzPts val="1500"/>
              <a:buFont typeface="Times New Roman"/>
              <a:buChar char="•"/>
              <a:defRPr b="1" sz="1500">
                <a:latin typeface="Times New Roman"/>
                <a:ea typeface="Times New Roman"/>
                <a:cs typeface="Times New Roman"/>
                <a:sym typeface="Times New Roman"/>
              </a:defRPr>
            </a:pPr>
            <a:r>
              <a:t>Enhanced Accuracy</a:t>
            </a:r>
            <a:r>
              <a:rPr b="0"/>
              <a:t> — Manual review process ensured fairness and reliability of reports</a:t>
            </a:r>
            <a:endParaRPr sz="1800">
              <a:latin typeface="+mn-lt"/>
              <a:ea typeface="+mn-ea"/>
              <a:cs typeface="+mn-cs"/>
              <a:sym typeface="Arial"/>
            </a:endParaRPr>
          </a:p>
        </p:txBody>
      </p:sp>
      <p:pic>
        <p:nvPicPr>
          <p:cNvPr id="277" name="Google Shape;277;p23" descr="Google Shape;277;p23"/>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sp>
        <p:nvSpPr>
          <p:cNvPr id="278" name="Google Shape;278;p23"/>
          <p:cNvSpPr/>
          <p:nvPr/>
        </p:nvSpPr>
        <p:spPr>
          <a:xfrm>
            <a:off x="76200" y="1225906"/>
            <a:ext cx="8991601" cy="1589"/>
          </a:xfrm>
          <a:prstGeom prst="line">
            <a:avLst/>
          </a:prstGeom>
          <a:ln>
            <a:solidFill>
              <a:srgbClr val="4A7DBA"/>
            </a:solidFill>
          </a:ln>
        </p:spPr>
        <p:txBody>
          <a:bodyPr lIns="0" tIns="0" rIns="0" bIns="0"/>
          <a:lstStyle/>
          <a:p>
            <a:pPr/>
          </a:p>
        </p:txBody>
      </p:sp>
      <p:pic>
        <p:nvPicPr>
          <p:cNvPr id="279" name="Google Shape;279;p23" descr="Google Shape;279;p23"/>
          <p:cNvPicPr>
            <a:picLocks noChangeAspect="1"/>
          </p:cNvPicPr>
          <p:nvPr/>
        </p:nvPicPr>
        <p:blipFill>
          <a:blip r:embed="rId3">
            <a:extLst/>
          </a:blip>
          <a:stretch>
            <a:fillRect/>
          </a:stretch>
        </p:blipFill>
        <p:spPr>
          <a:xfrm>
            <a:off x="7911680" y="169460"/>
            <a:ext cx="841322" cy="835225"/>
          </a:xfrm>
          <a:prstGeom prst="rect">
            <a:avLst/>
          </a:prstGeom>
          <a:ln w="12700">
            <a:miter lim="400000"/>
          </a:ln>
        </p:spPr>
      </p:pic>
      <p:sp>
        <p:nvSpPr>
          <p:cNvPr id="280" name="Google Shape;280;p23"/>
          <p:cNvSpPr txBox="1"/>
          <p:nvPr/>
        </p:nvSpPr>
        <p:spPr>
          <a:xfrm>
            <a:off x="937323" y="15515"/>
            <a:ext cx="7243952" cy="11887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800">
                <a:solidFill>
                  <a:srgbClr val="FF0000"/>
                </a:solidFill>
              </a:rPr>
              <a:t>         </a:t>
            </a:r>
            <a:r>
              <a:rPr sz="1800">
                <a:solidFill>
                  <a:srgbClr val="1F3864"/>
                </a:solidFill>
              </a:rPr>
              <a:t>K. C. College of Engineering &amp; Management Studies &amp; Research  </a:t>
            </a:r>
            <a:br>
              <a:rPr sz="1800">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r>
              <a:rPr sz="1200">
                <a:solidFill>
                  <a:srgbClr val="1F3864"/>
                </a:solidFill>
              </a:rPr>
              <a:t>)</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Google Shape;285;p24"/>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83" name="Google Shape;286;p24"/>
          <p:cNvSpPr txBox="1"/>
          <p:nvPr/>
        </p:nvSpPr>
        <p:spPr>
          <a:xfrm>
            <a:off x="502924" y="1032053"/>
            <a:ext cx="8138152"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a:defRPr b="1" sz="2800" u="sng">
                <a:solidFill>
                  <a:srgbClr val="1F497D"/>
                </a:solidFill>
                <a:latin typeface="Times New Roman"/>
                <a:ea typeface="Times New Roman"/>
                <a:cs typeface="Times New Roman"/>
                <a:sym typeface="Times New Roman"/>
              </a:defRPr>
            </a:pPr>
            <a:br/>
            <a:r>
              <a:rPr u="none"/>
              <a:t>CONCLUSION</a:t>
            </a:r>
          </a:p>
        </p:txBody>
      </p:sp>
      <p:sp>
        <p:nvSpPr>
          <p:cNvPr id="284" name="Google Shape;287;p24"/>
          <p:cNvSpPr txBox="1"/>
          <p:nvPr/>
        </p:nvSpPr>
        <p:spPr>
          <a:xfrm>
            <a:off x="435375" y="2165201"/>
            <a:ext cx="8138151" cy="1781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just">
              <a:lnSpc>
                <a:spcPct val="115000"/>
              </a:lnSpc>
              <a:defRPr sz="1500">
                <a:latin typeface="Times New Roman"/>
                <a:ea typeface="Times New Roman"/>
                <a:cs typeface="Times New Roman"/>
                <a:sym typeface="Times New Roman"/>
              </a:defRPr>
            </a:lvl1pPr>
          </a:lstStyle>
          <a:p>
            <a:pPr/>
            <a:r>
              <a:t>The project successfully developed a real-time smart waste management system combining machine learning and citizen participation to improve urban cleanliness. Using YOLOv8 and CCTV feeds, the system achieved high waste detection accuracy without physical sensors, while predictive analytics identified high-risk zones for preventive cleaning. Route optimization minimized time, fuel use, and emissions, supporting sustainability. A centralized dashboard enhanced transparency, real-time monitoring, and public engagement, making the solution scalable, cost-effective, and well-suited for sustainable urban waste management.</a:t>
            </a:r>
          </a:p>
        </p:txBody>
      </p:sp>
      <p:pic>
        <p:nvPicPr>
          <p:cNvPr id="285" name="Google Shape;288;p24" descr="Google Shape;288;p24"/>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pic>
        <p:nvPicPr>
          <p:cNvPr id="286" name="Google Shape;289;p24" descr="Google Shape;289;p24"/>
          <p:cNvPicPr>
            <a:picLocks noChangeAspect="1"/>
          </p:cNvPicPr>
          <p:nvPr/>
        </p:nvPicPr>
        <p:blipFill>
          <a:blip r:embed="rId3">
            <a:extLst/>
          </a:blip>
          <a:stretch>
            <a:fillRect/>
          </a:stretch>
        </p:blipFill>
        <p:spPr>
          <a:xfrm>
            <a:off x="7911680" y="169460"/>
            <a:ext cx="841322" cy="835225"/>
          </a:xfrm>
          <a:prstGeom prst="rect">
            <a:avLst/>
          </a:prstGeom>
          <a:ln w="12700">
            <a:miter lim="400000"/>
          </a:ln>
        </p:spPr>
      </p:pic>
      <p:sp>
        <p:nvSpPr>
          <p:cNvPr id="287" name="Google Shape;290;p24"/>
          <p:cNvSpPr/>
          <p:nvPr/>
        </p:nvSpPr>
        <p:spPr>
          <a:xfrm>
            <a:off x="76200" y="1225906"/>
            <a:ext cx="8991601" cy="1589"/>
          </a:xfrm>
          <a:prstGeom prst="line">
            <a:avLst/>
          </a:prstGeom>
          <a:ln>
            <a:solidFill>
              <a:srgbClr val="4A7DBA"/>
            </a:solidFill>
          </a:ln>
        </p:spPr>
        <p:txBody>
          <a:bodyPr lIns="0" tIns="0" rIns="0" bIns="0"/>
          <a:lstStyle/>
          <a:p>
            <a:pPr/>
          </a:p>
        </p:txBody>
      </p:sp>
      <p:sp>
        <p:nvSpPr>
          <p:cNvPr id="288" name="Google Shape;291;p24"/>
          <p:cNvSpPr txBox="1"/>
          <p:nvPr/>
        </p:nvSpPr>
        <p:spPr>
          <a:xfrm>
            <a:off x="45724" y="26202"/>
            <a:ext cx="8936403" cy="11887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800">
                <a:solidFill>
                  <a:srgbClr val="FF0000"/>
                </a:solidFill>
              </a:rPr>
              <a:t>         </a:t>
            </a:r>
            <a:r>
              <a:rPr sz="1800">
                <a:solidFill>
                  <a:srgbClr val="1F3864"/>
                </a:solidFill>
              </a:rPr>
              <a:t>K. C. College of Engineering &amp; Management Studies &amp; Research  </a:t>
            </a:r>
            <a:br>
              <a:rPr sz="1800">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Google Shape;296;p25"/>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91" name="Google Shape;297;p25"/>
          <p:cNvSpPr txBox="1"/>
          <p:nvPr/>
        </p:nvSpPr>
        <p:spPr>
          <a:xfrm>
            <a:off x="502924" y="875872"/>
            <a:ext cx="8138152" cy="114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a:defRPr b="1" sz="2800" u="sng">
                <a:solidFill>
                  <a:srgbClr val="1F497D"/>
                </a:solidFill>
                <a:latin typeface="Times New Roman"/>
                <a:ea typeface="Times New Roman"/>
                <a:cs typeface="Times New Roman"/>
                <a:sym typeface="Times New Roman"/>
              </a:defRPr>
            </a:pPr>
            <a:br/>
            <a:r>
              <a:rPr u="none"/>
              <a:t>REFERENCES</a:t>
            </a:r>
          </a:p>
        </p:txBody>
      </p:sp>
      <p:sp>
        <p:nvSpPr>
          <p:cNvPr id="292" name="Google Shape;298;p25"/>
          <p:cNvSpPr txBox="1"/>
          <p:nvPr/>
        </p:nvSpPr>
        <p:spPr>
          <a:xfrm>
            <a:off x="353699" y="1972372"/>
            <a:ext cx="8580052" cy="353191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just">
              <a:lnSpc>
                <a:spcPct val="115000"/>
              </a:lnSpc>
              <a:spcBef>
                <a:spcPts val="1200"/>
              </a:spcBef>
              <a:defRPr sz="1500">
                <a:latin typeface="Times New Roman"/>
                <a:ea typeface="Times New Roman"/>
                <a:cs typeface="Times New Roman"/>
                <a:sym typeface="Times New Roman"/>
              </a:defRPr>
            </a:pPr>
            <a:r>
              <a:t>[1]Raza, A., et al. (2021). </a:t>
            </a:r>
            <a:r>
              <a:rPr i="1"/>
              <a:t>Real-Time Trash Detection for Modern Societies Using CCTV</a:t>
            </a:r>
            <a:r>
              <a:t>. CNN-based object detection applied on 2,100 annotated CCTV images, achieving mAP ~0.82 and accuracy ~90%.</a:t>
            </a:r>
          </a:p>
          <a:p>
            <a:pPr algn="just">
              <a:lnSpc>
                <a:spcPct val="115000"/>
              </a:lnSpc>
              <a:spcBef>
                <a:spcPts val="1200"/>
              </a:spcBef>
              <a:defRPr sz="1500">
                <a:latin typeface="Times New Roman"/>
                <a:ea typeface="Times New Roman"/>
                <a:cs typeface="Times New Roman"/>
                <a:sym typeface="Times New Roman"/>
              </a:defRPr>
            </a:pPr>
            <a:r>
              <a:t>[2]Malik, M., et al. (2023). </a:t>
            </a:r>
            <a:r>
              <a:rPr i="1"/>
              <a:t>Machine Learning-Based Automatic Litter Detection &amp; Classification in Smart Cities</a:t>
            </a:r>
            <a:r>
              <a:t>. Transfer learning with CNN (VGG16, ResNet) achieving ~93% accuracy on urban litter datasets.</a:t>
            </a:r>
          </a:p>
          <a:p>
            <a:pPr algn="just">
              <a:lnSpc>
                <a:spcPct val="115000"/>
              </a:lnSpc>
              <a:spcBef>
                <a:spcPts val="1200"/>
              </a:spcBef>
              <a:defRPr sz="1500">
                <a:latin typeface="Times New Roman"/>
                <a:ea typeface="Times New Roman"/>
                <a:cs typeface="Times New Roman"/>
                <a:sym typeface="Times New Roman"/>
              </a:defRPr>
            </a:pPr>
            <a:r>
              <a:t>[3]van Lieshout, M., et al. (2023). </a:t>
            </a:r>
            <a:r>
              <a:rPr i="1"/>
              <a:t>Advancing Deep Learning Detection of Floating Litter</a:t>
            </a:r>
            <a:r>
              <a:t>. Fine-tuned SqueezeNet and DenseNet models achieving ~90% accuracy and F1 ~0.88 in aquatic environments.</a:t>
            </a:r>
          </a:p>
          <a:p>
            <a:pPr algn="just">
              <a:lnSpc>
                <a:spcPct val="115000"/>
              </a:lnSpc>
              <a:spcBef>
                <a:spcPts val="1200"/>
              </a:spcBef>
              <a:defRPr sz="1500">
                <a:latin typeface="Times New Roman"/>
                <a:ea typeface="Times New Roman"/>
                <a:cs typeface="Times New Roman"/>
                <a:sym typeface="Times New Roman"/>
              </a:defRPr>
            </a:pPr>
            <a:r>
              <a:t>[4]Pathak, S., et al. (2024). </a:t>
            </a:r>
            <a:r>
              <a:rPr i="1"/>
              <a:t>Smart City Community Watch – Camera-Based Illegal Dumping Detection</a:t>
            </a:r>
            <a:r>
              <a:t>. DL-based detection on municipal CCTV feeds achieving mAP ~0.85 for illegal dumping hotspots.</a:t>
            </a:r>
          </a:p>
          <a:p>
            <a:pPr algn="just">
              <a:lnSpc>
                <a:spcPct val="115000"/>
              </a:lnSpc>
              <a:spcBef>
                <a:spcPts val="1200"/>
              </a:spcBef>
              <a:defRPr sz="1500">
                <a:latin typeface="Times New Roman"/>
                <a:ea typeface="Times New Roman"/>
                <a:cs typeface="Times New Roman"/>
                <a:sym typeface="Times New Roman"/>
              </a:defRPr>
            </a:pPr>
            <a:r>
              <a:t>[5]Manivannan, R., et al. (2024). </a:t>
            </a:r>
            <a:r>
              <a:rPr i="1"/>
              <a:t>Garbage Monitoring &amp; Management Using DL</a:t>
            </a:r>
            <a:r>
              <a:t>. UAV imagery with clustering + YOLOv4 detection achieving mAP ~0.845, enabling detection and route optimization.</a:t>
            </a:r>
          </a:p>
        </p:txBody>
      </p:sp>
      <p:pic>
        <p:nvPicPr>
          <p:cNvPr id="293" name="Google Shape;299;p25" descr="Google Shape;299;p25"/>
          <p:cNvPicPr>
            <a:picLocks noChangeAspect="1"/>
          </p:cNvPicPr>
          <p:nvPr/>
        </p:nvPicPr>
        <p:blipFill>
          <a:blip r:embed="rId2">
            <a:extLst/>
          </a:blip>
          <a:stretch>
            <a:fillRect/>
          </a:stretch>
        </p:blipFill>
        <p:spPr>
          <a:xfrm>
            <a:off x="307975" y="188682"/>
            <a:ext cx="1192647" cy="843372"/>
          </a:xfrm>
          <a:prstGeom prst="rect">
            <a:avLst/>
          </a:prstGeom>
          <a:ln w="12700">
            <a:miter lim="400000"/>
          </a:ln>
        </p:spPr>
      </p:pic>
      <p:pic>
        <p:nvPicPr>
          <p:cNvPr id="294" name="Google Shape;300;p25" descr="Google Shape;300;p25"/>
          <p:cNvPicPr>
            <a:picLocks noChangeAspect="1"/>
          </p:cNvPicPr>
          <p:nvPr/>
        </p:nvPicPr>
        <p:blipFill>
          <a:blip r:embed="rId3">
            <a:extLst/>
          </a:blip>
          <a:stretch>
            <a:fillRect/>
          </a:stretch>
        </p:blipFill>
        <p:spPr>
          <a:xfrm>
            <a:off x="7911680" y="169460"/>
            <a:ext cx="841322" cy="835225"/>
          </a:xfrm>
          <a:prstGeom prst="rect">
            <a:avLst/>
          </a:prstGeom>
          <a:ln w="12700">
            <a:miter lim="400000"/>
          </a:ln>
        </p:spPr>
      </p:pic>
      <p:sp>
        <p:nvSpPr>
          <p:cNvPr id="295" name="Google Shape;301;p25"/>
          <p:cNvSpPr/>
          <p:nvPr/>
        </p:nvSpPr>
        <p:spPr>
          <a:xfrm>
            <a:off x="76200" y="1225906"/>
            <a:ext cx="8991601" cy="1589"/>
          </a:xfrm>
          <a:prstGeom prst="line">
            <a:avLst/>
          </a:prstGeom>
          <a:ln>
            <a:solidFill>
              <a:srgbClr val="4A7DBA"/>
            </a:solidFill>
          </a:ln>
        </p:spPr>
        <p:txBody>
          <a:bodyPr lIns="0" tIns="0" rIns="0" bIns="0"/>
          <a:lstStyle/>
          <a:p>
            <a:pPr/>
          </a:p>
        </p:txBody>
      </p:sp>
      <p:sp>
        <p:nvSpPr>
          <p:cNvPr id="296" name="Google Shape;302;p25"/>
          <p:cNvSpPr txBox="1"/>
          <p:nvPr/>
        </p:nvSpPr>
        <p:spPr>
          <a:xfrm>
            <a:off x="502924" y="12037"/>
            <a:ext cx="8030273" cy="11887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800">
                <a:solidFill>
                  <a:srgbClr val="FF0000"/>
                </a:solidFill>
              </a:rPr>
              <a:t>         </a:t>
            </a:r>
            <a:r>
              <a:rPr sz="1800">
                <a:solidFill>
                  <a:srgbClr val="1F3864"/>
                </a:solidFill>
              </a:rPr>
              <a:t>K. C. College of Engineering &amp; Management Studies &amp; Research  </a:t>
            </a:r>
            <a:br>
              <a:rPr sz="1800">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Google Shape;311;p26"/>
          <p:cNvSpPr/>
          <p:nvPr/>
        </p:nvSpPr>
        <p:spPr>
          <a:xfrm>
            <a:off x="76199" y="1240507"/>
            <a:ext cx="8991602" cy="1501"/>
          </a:xfrm>
          <a:prstGeom prst="line">
            <a:avLst/>
          </a:prstGeom>
          <a:ln>
            <a:solidFill>
              <a:srgbClr val="4A7DBA"/>
            </a:solidFill>
          </a:ln>
        </p:spPr>
        <p:txBody>
          <a:bodyPr lIns="0" tIns="0" rIns="0" bIns="0"/>
          <a:lstStyle/>
          <a:p>
            <a:pPr/>
          </a:p>
        </p:txBody>
      </p:sp>
      <p:sp>
        <p:nvSpPr>
          <p:cNvPr id="299" name="Google Shape;313;p26"/>
          <p:cNvSpPr txBox="1"/>
          <p:nvPr/>
        </p:nvSpPr>
        <p:spPr>
          <a:xfrm>
            <a:off x="731524" y="2663824"/>
            <a:ext cx="7680952" cy="102099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b="1" sz="6600">
                <a:solidFill>
                  <a:srgbClr val="1F497D"/>
                </a:solidFill>
                <a:latin typeface="Times New Roman"/>
                <a:ea typeface="Times New Roman"/>
                <a:cs typeface="Times New Roman"/>
                <a:sym typeface="Times New Roman"/>
              </a:defRPr>
            </a:lvl1pPr>
          </a:lstStyle>
          <a:p>
            <a:pPr/>
            <a:r>
              <a:t>Thank You</a:t>
            </a:r>
          </a:p>
        </p:txBody>
      </p:sp>
      <p:sp>
        <p:nvSpPr>
          <p:cNvPr id="300" name="Google Shape;316;p26"/>
          <p:cNvSpPr txBox="1"/>
          <p:nvPr>
            <p:ph type="sldNum" sz="quarter" idx="2"/>
          </p:nvPr>
        </p:nvSpPr>
        <p:spPr>
          <a:xfrm>
            <a:off x="8428216" y="6414780"/>
            <a:ext cx="258584" cy="24826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1" name="Google Shape;317;p26" descr="Google Shape;317;p26"/>
          <p:cNvPicPr>
            <a:picLocks noChangeAspect="1"/>
          </p:cNvPicPr>
          <p:nvPr/>
        </p:nvPicPr>
        <p:blipFill>
          <a:blip r:embed="rId2">
            <a:extLst/>
          </a:blip>
          <a:stretch>
            <a:fillRect/>
          </a:stretch>
        </p:blipFill>
        <p:spPr>
          <a:xfrm>
            <a:off x="178952" y="165100"/>
            <a:ext cx="1192648" cy="843372"/>
          </a:xfrm>
          <a:prstGeom prst="rect">
            <a:avLst/>
          </a:prstGeom>
          <a:ln w="12700">
            <a:miter lim="400000"/>
          </a:ln>
        </p:spPr>
      </p:pic>
      <p:pic>
        <p:nvPicPr>
          <p:cNvPr id="302" name="Google Shape;318;p26" descr="Google Shape;318;p26"/>
          <p:cNvPicPr>
            <a:picLocks noChangeAspect="1"/>
          </p:cNvPicPr>
          <p:nvPr/>
        </p:nvPicPr>
        <p:blipFill>
          <a:blip r:embed="rId3">
            <a:extLst/>
          </a:blip>
          <a:stretch>
            <a:fillRect/>
          </a:stretch>
        </p:blipFill>
        <p:spPr>
          <a:xfrm>
            <a:off x="7845479" y="122447"/>
            <a:ext cx="841322" cy="835226"/>
          </a:xfrm>
          <a:prstGeom prst="rect">
            <a:avLst/>
          </a:prstGeom>
          <a:ln w="12700">
            <a:miter lim="400000"/>
          </a:ln>
        </p:spPr>
      </p:pic>
      <p:sp>
        <p:nvSpPr>
          <p:cNvPr id="303" name="Google Shape;319;p26"/>
          <p:cNvSpPr txBox="1"/>
          <p:nvPr/>
        </p:nvSpPr>
        <p:spPr>
          <a:xfrm>
            <a:off x="204357" y="12007"/>
            <a:ext cx="8468638" cy="1188748"/>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b="1" sz="1600">
                <a:latin typeface="Times New Roman"/>
                <a:ea typeface="Times New Roman"/>
                <a:cs typeface="Times New Roman"/>
                <a:sym typeface="Times New Roman"/>
              </a:defRPr>
            </a:pPr>
            <a:r>
              <a:t> </a:t>
            </a:r>
            <a:r>
              <a:rPr>
                <a:solidFill>
                  <a:srgbClr val="1F3864"/>
                </a:solidFill>
              </a:rPr>
              <a:t>Excelssior Education Society’s </a:t>
            </a:r>
            <a:br>
              <a:rPr>
                <a:solidFill>
                  <a:srgbClr val="1F3864"/>
                </a:solidFill>
              </a:rPr>
            </a:br>
            <a:r>
              <a:rPr sz="1800">
                <a:solidFill>
                  <a:srgbClr val="FF0000"/>
                </a:solidFill>
              </a:rPr>
              <a:t>         </a:t>
            </a:r>
            <a:r>
              <a:rPr sz="1800">
                <a:solidFill>
                  <a:srgbClr val="1F3864"/>
                </a:solidFill>
              </a:rPr>
              <a:t>K. C. College of Engineering &amp; Management Studies &amp; Research  </a:t>
            </a:r>
            <a:br>
              <a:rPr sz="1800">
                <a:solidFill>
                  <a:srgbClr val="1F3864"/>
                </a:solidFill>
              </a:rPr>
            </a:br>
            <a:r>
              <a:rPr sz="1400">
                <a:solidFill>
                  <a:srgbClr val="1F3864"/>
                </a:solidFill>
              </a:rPr>
              <a:t>(Affiliated to the University of Mumbai &amp; Approved by AICTE)</a:t>
            </a:r>
            <a:br>
              <a:rPr sz="1400">
                <a:solidFill>
                  <a:srgbClr val="1F3864"/>
                </a:solidFill>
              </a:rPr>
            </a:br>
            <a:r>
              <a:rPr sz="1400">
                <a:solidFill>
                  <a:srgbClr val="1F3864"/>
                </a:solidFill>
              </a:rPr>
              <a:t>Mith Bunder Road, Near Hume Pipe, Kopri, Thane (E) – 400603</a:t>
            </a:r>
            <a:br>
              <a:rPr sz="1400">
                <a:solidFill>
                  <a:srgbClr val="1F3864"/>
                </a:solidFill>
              </a:rPr>
            </a:br>
            <a:r>
              <a:rPr sz="1400">
                <a:solidFill>
                  <a:srgbClr val="1F3864"/>
                </a:solidFill>
              </a:rPr>
              <a:t>NAAC Accredited with A Grade (NBA Accredited</a:t>
            </a:r>
            <a:r>
              <a:rPr sz="1200">
                <a:solidFill>
                  <a:srgbClr val="1F3864"/>
                </a:solidFill>
              </a:rPr>
              <a: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